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  <p:sldMasterId id="214748365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Catamaran"/>
      <p:regular r:id="rId26"/>
      <p:bold r:id="rId27"/>
    </p:embeddedFont>
    <p:embeddedFont>
      <p:font typeface="Raleway"/>
      <p:regular r:id="rId28"/>
      <p:bold r:id="rId29"/>
      <p:italic r:id="rId30"/>
      <p:boldItalic r:id="rId31"/>
    </p:embeddedFont>
    <p:embeddedFont>
      <p:font typeface="Raleway SemiBold"/>
      <p:regular r:id="rId32"/>
      <p:bold r:id="rId33"/>
      <p:italic r:id="rId34"/>
      <p:boldItalic r:id="rId35"/>
    </p:embeddedFont>
    <p:embeddedFont>
      <p:font typeface="Raleway Light"/>
      <p:regular r:id="rId36"/>
      <p:bold r:id="rId37"/>
      <p:italic r:id="rId38"/>
      <p:boldItalic r:id="rId39"/>
    </p:embeddedFont>
    <p:embeddedFont>
      <p:font typeface="Roboto Mono"/>
      <p:bold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.fntdata"/><Relationship Id="rId20" Type="http://schemas.openxmlformats.org/officeDocument/2006/relationships/slide" Target="slides/slide14.xml"/><Relationship Id="rId41" Type="http://schemas.openxmlformats.org/officeDocument/2006/relationships/font" Target="fonts/RobotoMono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Catamaran-regular.fntdata"/><Relationship Id="rId25" Type="http://schemas.openxmlformats.org/officeDocument/2006/relationships/slide" Target="slides/slide19.xml"/><Relationship Id="rId28" Type="http://schemas.openxmlformats.org/officeDocument/2006/relationships/font" Target="fonts/Raleway-regular.fntdata"/><Relationship Id="rId27" Type="http://schemas.openxmlformats.org/officeDocument/2006/relationships/font" Target="fonts/Catamaran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aleway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aleway-boldItalic.fntdata"/><Relationship Id="rId30" Type="http://schemas.openxmlformats.org/officeDocument/2006/relationships/font" Target="fonts/Raleway-italic.fntdata"/><Relationship Id="rId11" Type="http://schemas.openxmlformats.org/officeDocument/2006/relationships/slide" Target="slides/slide5.xml"/><Relationship Id="rId33" Type="http://schemas.openxmlformats.org/officeDocument/2006/relationships/font" Target="fonts/RalewaySemiBold-bold.fntdata"/><Relationship Id="rId10" Type="http://schemas.openxmlformats.org/officeDocument/2006/relationships/slide" Target="slides/slide4.xml"/><Relationship Id="rId32" Type="http://schemas.openxmlformats.org/officeDocument/2006/relationships/font" Target="fonts/RalewaySemiBold-regular.fntdata"/><Relationship Id="rId13" Type="http://schemas.openxmlformats.org/officeDocument/2006/relationships/slide" Target="slides/slide7.xml"/><Relationship Id="rId35" Type="http://schemas.openxmlformats.org/officeDocument/2006/relationships/font" Target="fonts/RalewaySemiBold-boldItalic.fntdata"/><Relationship Id="rId12" Type="http://schemas.openxmlformats.org/officeDocument/2006/relationships/slide" Target="slides/slide6.xml"/><Relationship Id="rId34" Type="http://schemas.openxmlformats.org/officeDocument/2006/relationships/font" Target="fonts/RalewaySemiBold-italic.fntdata"/><Relationship Id="rId15" Type="http://schemas.openxmlformats.org/officeDocument/2006/relationships/slide" Target="slides/slide9.xml"/><Relationship Id="rId37" Type="http://schemas.openxmlformats.org/officeDocument/2006/relationships/font" Target="fonts/RalewayLight-bold.fntdata"/><Relationship Id="rId14" Type="http://schemas.openxmlformats.org/officeDocument/2006/relationships/slide" Target="slides/slide8.xml"/><Relationship Id="rId36" Type="http://schemas.openxmlformats.org/officeDocument/2006/relationships/font" Target="fonts/RalewayLight-regular.fntdata"/><Relationship Id="rId17" Type="http://schemas.openxmlformats.org/officeDocument/2006/relationships/slide" Target="slides/slide11.xml"/><Relationship Id="rId39" Type="http://schemas.openxmlformats.org/officeDocument/2006/relationships/font" Target="fonts/RalewayLight-boldItalic.fntdata"/><Relationship Id="rId16" Type="http://schemas.openxmlformats.org/officeDocument/2006/relationships/slide" Target="slides/slide10.xml"/><Relationship Id="rId38" Type="http://schemas.openxmlformats.org/officeDocument/2006/relationships/font" Target="fonts/RalewayLight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f5677e08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ef5677e08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ef5c571b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ef5c571b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f801f5a1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ef801f5a1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f801f5a1d_3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ef801f5a1d_3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f801f5a1d_3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ef801f5a1d_3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ef801f5a1d_3_1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ef801f5a1d_3_1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fa1a2f44f_8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efa1a2f44f_8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efa53ae8a5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efa53ae8a5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efa718c09e_3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efa718c09e_3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efa718c09e_21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efa718c09e_21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efa718c09e_33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efa718c09e_33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efa718c09e_5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3efa718c09e_5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efa718c09e_5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efa718c09e_5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Catamaran"/>
              <a:buNone/>
              <a:defRPr sz="420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tamaran"/>
              <a:buNone/>
              <a:defRPr sz="1600">
                <a:latin typeface="Catamaran"/>
                <a:ea typeface="Catamaran"/>
                <a:cs typeface="Catamaran"/>
                <a:sym typeface="Catamar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6259425" y="2453225"/>
            <a:ext cx="2884575" cy="26901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/>
          <p:nvPr/>
        </p:nvSpPr>
        <p:spPr>
          <a:xfrm>
            <a:off x="830400" y="1170063"/>
            <a:ext cx="548700" cy="882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1379100" y="1170063"/>
            <a:ext cx="548700" cy="882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ITLE_1">
    <p:bg>
      <p:bgPr>
        <a:solidFill>
          <a:schemeClr val="lt2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47725" y="1983300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347725" y="2937794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2" name="Google Shape;22;p3"/>
          <p:cNvSpPr txBox="1"/>
          <p:nvPr/>
        </p:nvSpPr>
        <p:spPr>
          <a:xfrm>
            <a:off x="4167025" y="1983300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4167025" y="2937794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414300" y="1983327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414300" y="2937820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233600" y="1983327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233600" y="2937820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8" name="Google Shape;28;p3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3"/>
          <p:cNvSpPr/>
          <p:nvPr/>
        </p:nvSpPr>
        <p:spPr>
          <a:xfrm flipH="1" rot="10800000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/>
          <p:nvPr/>
        </p:nvSpPr>
        <p:spPr>
          <a:xfrm flipH="1" rot="10800000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3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7922487" y="2407925"/>
            <a:ext cx="1776325" cy="165662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 txBox="1"/>
          <p:nvPr/>
        </p:nvSpPr>
        <p:spPr>
          <a:xfrm>
            <a:off x="347725" y="3875250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3" name="Google Shape;33;p3"/>
          <p:cNvSpPr txBox="1"/>
          <p:nvPr/>
        </p:nvSpPr>
        <p:spPr>
          <a:xfrm>
            <a:off x="4167025" y="3875250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1414300" y="3875277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5233600" y="3875277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727650" y="162202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0" y="4129750"/>
            <a:ext cx="1327200" cy="1013700"/>
          </a:xfrm>
          <a:prstGeom prst="rtTriangle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4"/>
          <p:cNvPicPr preferRelativeResize="0"/>
          <p:nvPr/>
        </p:nvPicPr>
        <p:blipFill rotWithShape="1">
          <a:blip r:embed="rId2">
            <a:alphaModFix/>
          </a:blip>
          <a:srcRect b="16523" l="7088" r="9620" t="14912"/>
          <a:stretch/>
        </p:blipFill>
        <p:spPr>
          <a:xfrm>
            <a:off x="99550" y="4626400"/>
            <a:ext cx="505675" cy="4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 flipH="1" rot="10800000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 flipH="1" rot="10800000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 txBox="1"/>
          <p:nvPr>
            <p:ph idx="2" type="subTitle"/>
          </p:nvPr>
        </p:nvSpPr>
        <p:spPr>
          <a:xfrm>
            <a:off x="1414800" y="4779100"/>
            <a:ext cx="5854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"/>
          <p:cNvSpPr txBox="1"/>
          <p:nvPr>
            <p:ph type="title"/>
          </p:nvPr>
        </p:nvSpPr>
        <p:spPr>
          <a:xfrm>
            <a:off x="770150" y="831575"/>
            <a:ext cx="33009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5"/>
          <p:cNvSpPr txBox="1"/>
          <p:nvPr>
            <p:ph idx="1" type="subTitle"/>
          </p:nvPr>
        </p:nvSpPr>
        <p:spPr>
          <a:xfrm>
            <a:off x="770150" y="2192250"/>
            <a:ext cx="3300900" cy="24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0" name="Google Shape;50;p5"/>
          <p:cNvSpPr txBox="1"/>
          <p:nvPr>
            <p:ph idx="2" type="body"/>
          </p:nvPr>
        </p:nvSpPr>
        <p:spPr>
          <a:xfrm>
            <a:off x="5161900" y="83157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0" y="4129750"/>
            <a:ext cx="1327200" cy="1013700"/>
          </a:xfrm>
          <a:prstGeom prst="rtTriangle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" name="Google Shape;53;p5"/>
          <p:cNvPicPr preferRelativeResize="0"/>
          <p:nvPr/>
        </p:nvPicPr>
        <p:blipFill rotWithShape="1">
          <a:blip r:embed="rId2">
            <a:alphaModFix/>
          </a:blip>
          <a:srcRect b="17785" l="0" r="0" t="13651"/>
          <a:stretch/>
        </p:blipFill>
        <p:spPr>
          <a:xfrm>
            <a:off x="0" y="4597050"/>
            <a:ext cx="607175" cy="4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 flipH="1" rot="10800000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"/>
          <p:cNvSpPr/>
          <p:nvPr/>
        </p:nvSpPr>
        <p:spPr>
          <a:xfrm flipH="1" rot="10800000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 txBox="1"/>
          <p:nvPr>
            <p:ph idx="3" type="subTitle"/>
          </p:nvPr>
        </p:nvSpPr>
        <p:spPr>
          <a:xfrm>
            <a:off x="1414800" y="4779100"/>
            <a:ext cx="5854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5"/>
          <p:cNvSpPr/>
          <p:nvPr/>
        </p:nvSpPr>
        <p:spPr>
          <a:xfrm>
            <a:off x="0" y="4129750"/>
            <a:ext cx="1327200" cy="1013700"/>
          </a:xfrm>
          <a:prstGeom prst="rtTriangle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5"/>
          <p:cNvPicPr preferRelativeResize="0"/>
          <p:nvPr/>
        </p:nvPicPr>
        <p:blipFill rotWithShape="1">
          <a:blip r:embed="rId2">
            <a:alphaModFix/>
          </a:blip>
          <a:srcRect b="16523" l="7088" r="9620" t="14912"/>
          <a:stretch/>
        </p:blipFill>
        <p:spPr>
          <a:xfrm>
            <a:off x="99550" y="4626400"/>
            <a:ext cx="505675" cy="4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7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Catamaran"/>
              <a:buNone/>
              <a:defRPr sz="420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6" name="Google Shape;66;p7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tamaran"/>
              <a:buNone/>
              <a:defRPr sz="1600">
                <a:latin typeface="Catamaran"/>
                <a:ea typeface="Catamaran"/>
                <a:cs typeface="Catamaran"/>
                <a:sym typeface="Catamar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7" name="Google Shape;67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68" name="Google Shape;68;p7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6259425" y="2453225"/>
            <a:ext cx="2884575" cy="269019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7"/>
          <p:cNvSpPr/>
          <p:nvPr/>
        </p:nvSpPr>
        <p:spPr>
          <a:xfrm>
            <a:off x="830400" y="1170063"/>
            <a:ext cx="548700" cy="882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1379100" y="1170063"/>
            <a:ext cx="548700" cy="882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ITLE_1">
    <p:bg>
      <p:bgPr>
        <a:solidFill>
          <a:schemeClr val="lt2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74" name="Google Shape;74;p8"/>
          <p:cNvSpPr txBox="1"/>
          <p:nvPr/>
        </p:nvSpPr>
        <p:spPr>
          <a:xfrm>
            <a:off x="347725" y="1983300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1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5" name="Google Shape;75;p8"/>
          <p:cNvSpPr txBox="1"/>
          <p:nvPr/>
        </p:nvSpPr>
        <p:spPr>
          <a:xfrm>
            <a:off x="347725" y="2937794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6" name="Google Shape;76;p8"/>
          <p:cNvSpPr txBox="1"/>
          <p:nvPr/>
        </p:nvSpPr>
        <p:spPr>
          <a:xfrm>
            <a:off x="4167025" y="1983300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7" name="Google Shape;77;p8"/>
          <p:cNvSpPr txBox="1"/>
          <p:nvPr/>
        </p:nvSpPr>
        <p:spPr>
          <a:xfrm>
            <a:off x="4167025" y="2937794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1414300" y="1983327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1414300" y="2937820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5233600" y="1983327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5233600" y="2937820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2" name="Google Shape;82;p8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" name="Google Shape;83;p8"/>
          <p:cNvSpPr/>
          <p:nvPr/>
        </p:nvSpPr>
        <p:spPr>
          <a:xfrm flipH="1" rot="10800000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8"/>
          <p:cNvSpPr/>
          <p:nvPr/>
        </p:nvSpPr>
        <p:spPr>
          <a:xfrm flipH="1" rot="10800000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2">
            <a:alphaModFix amt="25000"/>
          </a:blip>
          <a:srcRect b="0" l="0" r="0" t="0"/>
          <a:stretch/>
        </p:blipFill>
        <p:spPr>
          <a:xfrm>
            <a:off x="7922487" y="2407925"/>
            <a:ext cx="1776325" cy="165662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8"/>
          <p:cNvSpPr txBox="1"/>
          <p:nvPr/>
        </p:nvSpPr>
        <p:spPr>
          <a:xfrm>
            <a:off x="347725" y="3875250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7" name="Google Shape;87;p8"/>
          <p:cNvSpPr txBox="1"/>
          <p:nvPr/>
        </p:nvSpPr>
        <p:spPr>
          <a:xfrm>
            <a:off x="4167025" y="3875250"/>
            <a:ext cx="9237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it" sz="4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  <a:endParaRPr b="0" i="0" sz="4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1414300" y="3875277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5233600" y="3875277"/>
            <a:ext cx="26525" cy="841231"/>
          </a:xfrm>
          <a:custGeom>
            <a:rect b="b" l="l" r="r" t="t"/>
            <a:pathLst>
              <a:path extrusionOk="0" h="31989" w="1061">
                <a:moveTo>
                  <a:pt x="0" y="0"/>
                </a:moveTo>
                <a:lnTo>
                  <a:pt x="0" y="31989"/>
                </a:lnTo>
                <a:lnTo>
                  <a:pt x="1060" y="31989"/>
                </a:lnTo>
                <a:lnTo>
                  <a:pt x="1060" y="0"/>
                </a:lnTo>
                <a:close/>
              </a:path>
            </a:pathLst>
          </a:cu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9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3" name="Google Shape;93;p9"/>
          <p:cNvSpPr txBox="1"/>
          <p:nvPr>
            <p:ph idx="1" type="body"/>
          </p:nvPr>
        </p:nvSpPr>
        <p:spPr>
          <a:xfrm>
            <a:off x="727650" y="162202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5" name="Google Shape;95;p9"/>
          <p:cNvSpPr/>
          <p:nvPr/>
        </p:nvSpPr>
        <p:spPr>
          <a:xfrm>
            <a:off x="0" y="4129750"/>
            <a:ext cx="1327200" cy="1013700"/>
          </a:xfrm>
          <a:prstGeom prst="rtTriangle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9"/>
          <p:cNvPicPr preferRelativeResize="0"/>
          <p:nvPr/>
        </p:nvPicPr>
        <p:blipFill rotWithShape="1">
          <a:blip r:embed="rId2">
            <a:alphaModFix/>
          </a:blip>
          <a:srcRect b="16523" l="7088" r="9620" t="14912"/>
          <a:stretch/>
        </p:blipFill>
        <p:spPr>
          <a:xfrm>
            <a:off x="99550" y="4626400"/>
            <a:ext cx="505675" cy="4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9"/>
          <p:cNvSpPr/>
          <p:nvPr/>
        </p:nvSpPr>
        <p:spPr>
          <a:xfrm flipH="1" rot="10800000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9"/>
          <p:cNvSpPr/>
          <p:nvPr/>
        </p:nvSpPr>
        <p:spPr>
          <a:xfrm flipH="1" rot="10800000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9"/>
          <p:cNvSpPr txBox="1"/>
          <p:nvPr>
            <p:ph idx="2" type="subTitle"/>
          </p:nvPr>
        </p:nvSpPr>
        <p:spPr>
          <a:xfrm>
            <a:off x="1414800" y="4779100"/>
            <a:ext cx="5854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0"/>
          <p:cNvSpPr txBox="1"/>
          <p:nvPr>
            <p:ph type="title"/>
          </p:nvPr>
        </p:nvSpPr>
        <p:spPr>
          <a:xfrm>
            <a:off x="770150" y="831575"/>
            <a:ext cx="33009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10"/>
          <p:cNvSpPr txBox="1"/>
          <p:nvPr>
            <p:ph idx="1" type="subTitle"/>
          </p:nvPr>
        </p:nvSpPr>
        <p:spPr>
          <a:xfrm>
            <a:off x="770150" y="2192250"/>
            <a:ext cx="3300900" cy="24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04" name="Google Shape;104;p10"/>
          <p:cNvSpPr txBox="1"/>
          <p:nvPr>
            <p:ph idx="2" type="body"/>
          </p:nvPr>
        </p:nvSpPr>
        <p:spPr>
          <a:xfrm>
            <a:off x="5161900" y="83157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0" y="4129750"/>
            <a:ext cx="1327200" cy="1013700"/>
          </a:xfrm>
          <a:prstGeom prst="rtTriangle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10"/>
          <p:cNvPicPr preferRelativeResize="0"/>
          <p:nvPr/>
        </p:nvPicPr>
        <p:blipFill rotWithShape="1">
          <a:blip r:embed="rId2">
            <a:alphaModFix/>
          </a:blip>
          <a:srcRect b="17785" l="0" r="0" t="13651"/>
          <a:stretch/>
        </p:blipFill>
        <p:spPr>
          <a:xfrm>
            <a:off x="0" y="4597050"/>
            <a:ext cx="607175" cy="4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0"/>
          <p:cNvSpPr/>
          <p:nvPr/>
        </p:nvSpPr>
        <p:spPr>
          <a:xfrm flipH="1" rot="10800000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0"/>
          <p:cNvSpPr/>
          <p:nvPr/>
        </p:nvSpPr>
        <p:spPr>
          <a:xfrm flipH="1" rot="10800000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0"/>
          <p:cNvSpPr txBox="1"/>
          <p:nvPr>
            <p:ph idx="3" type="subTitle"/>
          </p:nvPr>
        </p:nvSpPr>
        <p:spPr>
          <a:xfrm>
            <a:off x="1414800" y="4779100"/>
            <a:ext cx="5854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10"/>
          <p:cNvSpPr/>
          <p:nvPr/>
        </p:nvSpPr>
        <p:spPr>
          <a:xfrm>
            <a:off x="0" y="4129750"/>
            <a:ext cx="1327200" cy="1013700"/>
          </a:xfrm>
          <a:prstGeom prst="rtTriangle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10"/>
          <p:cNvPicPr preferRelativeResize="0"/>
          <p:nvPr/>
        </p:nvPicPr>
        <p:blipFill rotWithShape="1">
          <a:blip r:embed="rId2">
            <a:alphaModFix/>
          </a:blip>
          <a:srcRect b="16523" l="7088" r="9620" t="14912"/>
          <a:stretch/>
        </p:blipFill>
        <p:spPr>
          <a:xfrm>
            <a:off x="99550" y="4626400"/>
            <a:ext cx="505675" cy="4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 and body (g3ef8395dca1_7_0)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5" name="Google Shape;115;p11"/>
          <p:cNvSpPr txBox="1"/>
          <p:nvPr>
            <p:ph idx="1" type="body"/>
          </p:nvPr>
        </p:nvSpPr>
        <p:spPr>
          <a:xfrm>
            <a:off x="727650" y="162202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17" name="Google Shape;117;p11"/>
          <p:cNvSpPr txBox="1"/>
          <p:nvPr>
            <p:ph idx="2" type="subTitle"/>
          </p:nvPr>
        </p:nvSpPr>
        <p:spPr>
          <a:xfrm>
            <a:off x="1414800" y="4779100"/>
            <a:ext cx="58545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tamaran"/>
              <a:buNone/>
              <a:defRPr b="1" i="0" sz="28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atamaran"/>
              <a:buChar char="●"/>
              <a:defRPr b="0" i="0" sz="13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○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■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●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○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■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●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○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Catamaran"/>
              <a:buChar char="■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tamaran"/>
              <a:buNone/>
              <a:defRPr b="1" i="0" sz="2800" u="none" cap="none" strike="noStrike">
                <a:solidFill>
                  <a:srgbClr val="000000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Raleway"/>
              <a:buNone/>
              <a:defRPr b="1" i="0" sz="2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atamaran"/>
              <a:buChar char="●"/>
              <a:defRPr b="0" i="0" sz="13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○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■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●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○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■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●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Catamaran"/>
              <a:buChar char="○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Catamaran"/>
              <a:buChar char="■"/>
              <a:defRPr b="0" i="0" sz="11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/>
        </p:txBody>
      </p:sp>
      <p:sp>
        <p:nvSpPr>
          <p:cNvPr id="62" name="Google Shape;62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5" Type="http://schemas.openxmlformats.org/officeDocument/2006/relationships/image" Target="../media/image23.png"/><Relationship Id="rId6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thinkingstack.ai/blog/business-use-cases-11/a-comprehensive-guide-to-resnet50-architecture-and-implementation-56" TargetMode="External"/><Relationship Id="rId4" Type="http://schemas.openxmlformats.org/officeDocument/2006/relationships/hyperlink" Target="https://github.com/pietro-nardelli/sapienza-ppt-template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it" sz="3200"/>
              <a:t>Joint Detection of AI-Generated Images and Post-Processing Alterations in Real-World Scenarios</a:t>
            </a:r>
            <a:endParaRPr sz="3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t/>
            </a:r>
            <a:endParaRPr sz="3200"/>
          </a:p>
        </p:txBody>
      </p:sp>
      <p:sp>
        <p:nvSpPr>
          <p:cNvPr id="123" name="Google Shape;123;p12"/>
          <p:cNvSpPr txBox="1"/>
          <p:nvPr>
            <p:ph idx="1" type="subTitle"/>
          </p:nvPr>
        </p:nvSpPr>
        <p:spPr>
          <a:xfrm>
            <a:off x="729625" y="3172900"/>
            <a:ext cx="7688100" cy="8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it"/>
              <a:t>Giorgia Saolini - 1933076 &amp; Antonio Agostini -  1995653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it"/>
              <a:t>Computer Vision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it"/>
              <a:t>Sapienza University of Rome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29" name="Google Shape;129;p13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it"/>
              <a:t>Outline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1583700" y="1983300"/>
            <a:ext cx="243966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Problem Statement, Motivation &amp; Research Question</a:t>
            </a:r>
            <a:endParaRPr b="0" i="0" sz="1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5403000" y="1983300"/>
            <a:ext cx="24710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Proposed Multi-Task Method</a:t>
            </a:r>
            <a:endParaRPr b="0" i="0" sz="1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1583700" y="2937800"/>
            <a:ext cx="240918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Dataset &amp; Preparation Strategy</a:t>
            </a:r>
            <a:endParaRPr b="0" i="0" sz="1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3" name="Google Shape;133;p13"/>
          <p:cNvSpPr txBox="1"/>
          <p:nvPr/>
        </p:nvSpPr>
        <p:spPr>
          <a:xfrm>
            <a:off x="5403000" y="2937800"/>
            <a:ext cx="254212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Experimental Setup &amp; Evaluat</a:t>
            </a:r>
            <a:r>
              <a:rPr lang="it" sz="1800"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b="0" i="0" lang="it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on Protocol</a:t>
            </a:r>
            <a:endParaRPr b="0" i="0" sz="1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1583700" y="3875250"/>
            <a:ext cx="24093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Unimodal-Baselines Comparison, Ablations &amp; Results</a:t>
            </a:r>
            <a:endParaRPr b="0" i="0" sz="1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5403000" y="3875250"/>
            <a:ext cx="21414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it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Conclusions &amp; Future Work</a:t>
            </a:r>
            <a:endParaRPr b="0" i="0" sz="18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</a:pPr>
            <a:r>
              <a:rPr lang="it"/>
              <a:t>Problem Statement &amp; State Of The Art</a:t>
            </a:r>
            <a:endParaRPr/>
          </a:p>
        </p:txBody>
      </p:sp>
      <p:sp>
        <p:nvSpPr>
          <p:cNvPr id="141" name="Google Shape;141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741680" y="1320801"/>
            <a:ext cx="7701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rgbClr val="9E9E9E"/>
                </a:solidFill>
                <a:latin typeface="Raleway"/>
                <a:ea typeface="Raleway"/>
                <a:cs typeface="Raleway"/>
                <a:sym typeface="Raleway"/>
              </a:rPr>
              <a:t>Problem Statement, Motivation &amp; Research Question</a:t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3" name="Google Shape;143;p14"/>
          <p:cNvGrpSpPr/>
          <p:nvPr/>
        </p:nvGrpSpPr>
        <p:grpSpPr>
          <a:xfrm>
            <a:off x="741675" y="1809750"/>
            <a:ext cx="3619350" cy="2667000"/>
            <a:chOff x="762000" y="1809750"/>
            <a:chExt cx="3619350" cy="2667000"/>
          </a:xfrm>
        </p:grpSpPr>
        <p:sp>
          <p:nvSpPr>
            <p:cNvPr id="144" name="Google Shape;144;p14"/>
            <p:cNvSpPr/>
            <p:nvPr/>
          </p:nvSpPr>
          <p:spPr>
            <a:xfrm>
              <a:off x="762000" y="1809750"/>
              <a:ext cx="57300" cy="2667000"/>
            </a:xfrm>
            <a:prstGeom prst="rect">
              <a:avLst/>
            </a:prstGeom>
            <a:solidFill>
              <a:srgbClr val="6F0A1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819150" y="1809750"/>
              <a:ext cx="3562200" cy="2667000"/>
            </a:xfrm>
            <a:prstGeom prst="roundRect">
              <a:avLst>
                <a:gd fmla="val 1428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4"/>
            <p:cNvSpPr txBox="1"/>
            <p:nvPr/>
          </p:nvSpPr>
          <p:spPr>
            <a:xfrm>
              <a:off x="1047750" y="2047875"/>
              <a:ext cx="3105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800">
                  <a:solidFill>
                    <a:srgbClr val="6F0A19"/>
                  </a:solidFill>
                  <a:latin typeface="Catamaran"/>
                  <a:ea typeface="Catamaran"/>
                  <a:cs typeface="Catamaran"/>
                  <a:sym typeface="Catamaran"/>
                </a:rPr>
                <a:t>Problem Statement</a:t>
              </a:r>
              <a:endParaRPr b="1" sz="180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sp>
          <p:nvSpPr>
            <p:cNvPr id="147" name="Google Shape;147;p14"/>
            <p:cNvSpPr txBox="1"/>
            <p:nvPr/>
          </p:nvSpPr>
          <p:spPr>
            <a:xfrm>
              <a:off x="1047750" y="2571750"/>
              <a:ext cx="31053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15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AI-generated image detectors are evaluated on clean images.</a:t>
              </a:r>
              <a:endParaRPr b="1" sz="115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0" lang="it" sz="1150">
                  <a:solidFill>
                    <a:srgbClr val="595959"/>
                  </a:solidFill>
                  <a:latin typeface="Raleway"/>
                  <a:ea typeface="Raleway"/>
                  <a:cs typeface="Raleway"/>
                  <a:sym typeface="Raleway"/>
                </a:rPr>
                <a:t>Operations that introduce degradation patterns can hurt forensic detection.</a:t>
              </a:r>
              <a:endParaRPr b="0" sz="1150">
                <a:solidFill>
                  <a:srgbClr val="595959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48" name="Google Shape;148;p14"/>
          <p:cNvGrpSpPr/>
          <p:nvPr/>
        </p:nvGrpSpPr>
        <p:grpSpPr>
          <a:xfrm>
            <a:off x="4762500" y="1809750"/>
            <a:ext cx="3619350" cy="2667000"/>
            <a:chOff x="4762500" y="1809750"/>
            <a:chExt cx="3619350" cy="2667000"/>
          </a:xfrm>
        </p:grpSpPr>
        <p:sp>
          <p:nvSpPr>
            <p:cNvPr id="149" name="Google Shape;149;p14"/>
            <p:cNvSpPr/>
            <p:nvPr/>
          </p:nvSpPr>
          <p:spPr>
            <a:xfrm>
              <a:off x="4762500" y="1809750"/>
              <a:ext cx="57300" cy="2667000"/>
            </a:xfrm>
            <a:prstGeom prst="rect">
              <a:avLst/>
            </a:prstGeom>
            <a:solidFill>
              <a:srgbClr val="0067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4"/>
            <p:cNvSpPr/>
            <p:nvPr/>
          </p:nvSpPr>
          <p:spPr>
            <a:xfrm>
              <a:off x="4819650" y="1809750"/>
              <a:ext cx="3562200" cy="2667000"/>
            </a:xfrm>
            <a:prstGeom prst="roundRect">
              <a:avLst>
                <a:gd fmla="val 1428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4"/>
            <p:cNvSpPr txBox="1"/>
            <p:nvPr/>
          </p:nvSpPr>
          <p:spPr>
            <a:xfrm>
              <a:off x="5048250" y="2047875"/>
              <a:ext cx="3105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800">
                  <a:solidFill>
                    <a:srgbClr val="006778"/>
                  </a:solidFill>
                  <a:latin typeface="Catamaran"/>
                  <a:ea typeface="Catamaran"/>
                  <a:cs typeface="Catamaran"/>
                  <a:sym typeface="Catamaran"/>
                </a:rPr>
                <a:t>State Of The Art</a:t>
              </a:r>
              <a:endParaRPr b="1" sz="1800">
                <a:solidFill>
                  <a:srgbClr val="006778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sp>
          <p:nvSpPr>
            <p:cNvPr id="152" name="Google Shape;152;p14"/>
            <p:cNvSpPr txBox="1"/>
            <p:nvPr/>
          </p:nvSpPr>
          <p:spPr>
            <a:xfrm>
              <a:off x="5048250" y="2571750"/>
              <a:ext cx="31053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15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Existing detectors often focus on authenticity under ideal conditions.</a:t>
              </a:r>
              <a:endParaRPr b="1" sz="115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1350"/>
                </a:spcBef>
                <a:spcAft>
                  <a:spcPts val="0"/>
                </a:spcAft>
                <a:buNone/>
              </a:pPr>
              <a:r>
                <a:rPr b="0" lang="it" sz="1150">
                  <a:solidFill>
                    <a:srgbClr val="595959"/>
                  </a:solidFill>
                  <a:latin typeface="Raleway"/>
                  <a:ea typeface="Raleway"/>
                  <a:cs typeface="Raleway"/>
                  <a:sym typeface="Raleway"/>
                </a:rPr>
                <a:t>Real-world benchmarks highlight a gap between laboratory accuracy and practical robustness.</a:t>
              </a:r>
              <a:endParaRPr b="0" sz="1150">
                <a:solidFill>
                  <a:srgbClr val="595959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153" name="Google Shape;153;p14"/>
          <p:cNvSpPr txBox="1"/>
          <p:nvPr>
            <p:ph idx="2" type="subTitle"/>
          </p:nvPr>
        </p:nvSpPr>
        <p:spPr>
          <a:xfrm>
            <a:off x="1414800" y="4779100"/>
            <a:ext cx="6894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it" sz="800">
                <a:solidFill>
                  <a:srgbClr val="595959"/>
                </a:solidFill>
                <a:latin typeface="Raleway Light"/>
                <a:ea typeface="Raleway Light"/>
                <a:cs typeface="Raleway Light"/>
                <a:sym typeface="Raleway Light"/>
              </a:rPr>
              <a:t>Joint Detection of AI-Generated Images and Post-Processing Alterations in Real-World Scenarios - Agostini Antonio, Giorgia Saolini</a:t>
            </a:r>
            <a:endParaRPr sz="800">
              <a:solidFill>
                <a:srgbClr val="595959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</a:pPr>
            <a:r>
              <a:rPr lang="it"/>
              <a:t>Pro</a:t>
            </a:r>
            <a:r>
              <a:rPr lang="it"/>
              <a:t>ject Goal &amp; Research Question</a:t>
            </a:r>
            <a:endParaRPr/>
          </a:p>
        </p:txBody>
      </p:sp>
      <p:sp>
        <p:nvSpPr>
          <p:cNvPr id="159" name="Google Shape;159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741680" y="1320801"/>
            <a:ext cx="7701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" sz="1200" u="none" cap="none" strike="noStrike">
                <a:solidFill>
                  <a:srgbClr val="9E9E9E"/>
                </a:solidFill>
                <a:latin typeface="Raleway"/>
                <a:ea typeface="Raleway"/>
                <a:cs typeface="Raleway"/>
                <a:sym typeface="Raleway"/>
              </a:rPr>
              <a:t>Problem Statement, Motivation &amp; Research Question</a:t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15"/>
          <p:cNvGrpSpPr/>
          <p:nvPr/>
        </p:nvGrpSpPr>
        <p:grpSpPr>
          <a:xfrm>
            <a:off x="762000" y="1809809"/>
            <a:ext cx="3619350" cy="1787785"/>
            <a:chOff x="762000" y="1809750"/>
            <a:chExt cx="3619350" cy="2476500"/>
          </a:xfrm>
        </p:grpSpPr>
        <p:sp>
          <p:nvSpPr>
            <p:cNvPr id="162" name="Google Shape;162;p15"/>
            <p:cNvSpPr/>
            <p:nvPr/>
          </p:nvSpPr>
          <p:spPr>
            <a:xfrm>
              <a:off x="762000" y="1809750"/>
              <a:ext cx="57300" cy="2476500"/>
            </a:xfrm>
            <a:prstGeom prst="rect">
              <a:avLst/>
            </a:prstGeom>
            <a:solidFill>
              <a:srgbClr val="0067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819150" y="1809750"/>
              <a:ext cx="3562200" cy="2476500"/>
            </a:xfrm>
            <a:prstGeom prst="roundRect">
              <a:avLst>
                <a:gd fmla="val 1537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5"/>
            <p:cNvSpPr txBox="1"/>
            <p:nvPr/>
          </p:nvSpPr>
          <p:spPr>
            <a:xfrm>
              <a:off x="1047750" y="2047875"/>
              <a:ext cx="31053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800">
                  <a:solidFill>
                    <a:srgbClr val="006778"/>
                  </a:solidFill>
                  <a:latin typeface="Catamaran"/>
                  <a:ea typeface="Catamaran"/>
                  <a:cs typeface="Catamaran"/>
                  <a:sym typeface="Catamaran"/>
                </a:rPr>
                <a:t>Project Goal</a:t>
              </a:r>
              <a:endParaRPr b="1" sz="1800">
                <a:solidFill>
                  <a:srgbClr val="006778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sp>
          <p:nvSpPr>
            <p:cNvPr id="165" name="Google Shape;165;p15"/>
            <p:cNvSpPr txBox="1"/>
            <p:nvPr/>
          </p:nvSpPr>
          <p:spPr>
            <a:xfrm>
              <a:off x="1047750" y="2571740"/>
              <a:ext cx="3105300" cy="1480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rmAutofit lnSpcReduction="20000"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15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Input:</a:t>
              </a:r>
              <a:br>
                <a:rPr b="1" lang="it" sz="115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</a:br>
              <a:r>
                <a:rPr b="0" lang="it" sz="1150">
                  <a:solidFill>
                    <a:srgbClr val="595959"/>
                  </a:solidFill>
                  <a:latin typeface="Raleway"/>
                  <a:ea typeface="Raleway"/>
                  <a:cs typeface="Raleway"/>
                  <a:sym typeface="Raleway"/>
                </a:rPr>
                <a:t>One single image</a:t>
              </a:r>
              <a:endParaRPr b="1" sz="115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it" sz="115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Target Outputs:</a:t>
              </a:r>
              <a:endParaRPr b="1" sz="115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30162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595959"/>
                </a:buClr>
                <a:buSzPts val="1150"/>
                <a:buFont typeface="Raleway"/>
                <a:buChar char="●"/>
              </a:pPr>
              <a:r>
                <a:rPr b="0" lang="it" sz="1150">
                  <a:solidFill>
                    <a:srgbClr val="595959"/>
                  </a:solidFill>
                  <a:latin typeface="Raleway"/>
                  <a:ea typeface="Raleway"/>
                  <a:cs typeface="Raleway"/>
                  <a:sym typeface="Raleway"/>
                </a:rPr>
                <a:t>Real vs. AI-generated</a:t>
              </a:r>
              <a:endParaRPr b="0" sz="1150">
                <a:solidFill>
                  <a:srgbClr val="595959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301625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595959"/>
                </a:buClr>
                <a:buSzPts val="1150"/>
                <a:buFont typeface="Raleway"/>
                <a:buChar char="●"/>
              </a:pPr>
              <a:r>
                <a:rPr b="0" lang="it" sz="1150">
                  <a:solidFill>
                    <a:srgbClr val="595959"/>
                  </a:solidFill>
                  <a:latin typeface="Raleway"/>
                  <a:ea typeface="Raleway"/>
                  <a:cs typeface="Raleway"/>
                  <a:sym typeface="Raleway"/>
                </a:rPr>
                <a:t>Original vs. internet-transmitted vs. re-digitized</a:t>
              </a:r>
              <a:endParaRPr b="0" sz="1150">
                <a:solidFill>
                  <a:srgbClr val="595959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166" name="Google Shape;166;p15"/>
          <p:cNvGrpSpPr/>
          <p:nvPr/>
        </p:nvGrpSpPr>
        <p:grpSpPr>
          <a:xfrm>
            <a:off x="4762500" y="1809741"/>
            <a:ext cx="3619350" cy="1787785"/>
            <a:chOff x="4762500" y="1809750"/>
            <a:chExt cx="3619350" cy="2476500"/>
          </a:xfrm>
        </p:grpSpPr>
        <p:sp>
          <p:nvSpPr>
            <p:cNvPr id="167" name="Google Shape;167;p15"/>
            <p:cNvSpPr/>
            <p:nvPr/>
          </p:nvSpPr>
          <p:spPr>
            <a:xfrm>
              <a:off x="4762500" y="1809750"/>
              <a:ext cx="57300" cy="2476500"/>
            </a:xfrm>
            <a:prstGeom prst="rect">
              <a:avLst/>
            </a:prstGeom>
            <a:solidFill>
              <a:srgbClr val="6F0A1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4819650" y="1809750"/>
              <a:ext cx="3562200" cy="2476500"/>
            </a:xfrm>
            <a:prstGeom prst="roundRect">
              <a:avLst>
                <a:gd fmla="val 1537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5"/>
            <p:cNvSpPr txBox="1"/>
            <p:nvPr/>
          </p:nvSpPr>
          <p:spPr>
            <a:xfrm>
              <a:off x="5048250" y="2047875"/>
              <a:ext cx="31053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800">
                  <a:solidFill>
                    <a:srgbClr val="6F0A19"/>
                  </a:solidFill>
                  <a:latin typeface="Catamaran"/>
                  <a:ea typeface="Catamaran"/>
                  <a:cs typeface="Catamaran"/>
                  <a:sym typeface="Catamaran"/>
                </a:rPr>
                <a:t>Research Question</a:t>
              </a:r>
              <a:endParaRPr b="1" sz="180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sp>
          <p:nvSpPr>
            <p:cNvPr id="170" name="Google Shape;170;p15"/>
            <p:cNvSpPr txBox="1"/>
            <p:nvPr/>
          </p:nvSpPr>
          <p:spPr>
            <a:xfrm>
              <a:off x="5048250" y="2571745"/>
              <a:ext cx="3333600" cy="1249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rm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900"/>
                </a:spcAft>
                <a:buNone/>
              </a:pPr>
              <a:r>
                <a:rPr b="1" lang="it" sz="13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Can joint learning improve robustness compared to separate unimodal models?</a:t>
              </a:r>
              <a:endParaRPr b="0" sz="1100">
                <a:solidFill>
                  <a:srgbClr val="595959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pic>
        <p:nvPicPr>
          <p:cNvPr id="171" name="Google Shape;1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0450" y="3670713"/>
            <a:ext cx="4943751" cy="11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5"/>
          <p:cNvSpPr txBox="1"/>
          <p:nvPr/>
        </p:nvSpPr>
        <p:spPr>
          <a:xfrm>
            <a:off x="5783800" y="3849325"/>
            <a:ext cx="1216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3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Real / Fake</a:t>
            </a:r>
            <a:endParaRPr i="1" sz="13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5743850" y="4337075"/>
            <a:ext cx="1172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3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Transformations</a:t>
            </a:r>
            <a:endParaRPr i="1" sz="1300">
              <a:solidFill>
                <a:schemeClr val="accen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174" name="Google Shape;174;p15"/>
          <p:cNvPicPr preferRelativeResize="0"/>
          <p:nvPr/>
        </p:nvPicPr>
        <p:blipFill rotWithShape="1">
          <a:blip r:embed="rId4">
            <a:alphaModFix/>
          </a:blip>
          <a:srcRect b="0" l="32454" r="18868" t="0"/>
          <a:stretch/>
        </p:blipFill>
        <p:spPr>
          <a:xfrm>
            <a:off x="7132125" y="1866850"/>
            <a:ext cx="692976" cy="5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5"/>
          <p:cNvSpPr txBox="1"/>
          <p:nvPr/>
        </p:nvSpPr>
        <p:spPr>
          <a:xfrm>
            <a:off x="2587850" y="4066363"/>
            <a:ext cx="779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Images</a:t>
            </a:r>
            <a:endParaRPr sz="13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3766350" y="3966325"/>
            <a:ext cx="1216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Proposed Method</a:t>
            </a:r>
            <a:endParaRPr sz="13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1575350" y="4066375"/>
            <a:ext cx="693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rgbClr val="006778"/>
                </a:solidFill>
                <a:latin typeface="Raleway"/>
                <a:ea typeface="Raleway"/>
                <a:cs typeface="Raleway"/>
                <a:sym typeface="Raleway"/>
              </a:rPr>
              <a:t>Input</a:t>
            </a:r>
            <a:endParaRPr b="1" sz="1300">
              <a:solidFill>
                <a:srgbClr val="00677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7200050" y="4041350"/>
            <a:ext cx="1012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rgbClr val="6F0A19"/>
                </a:solidFill>
                <a:latin typeface="Raleway"/>
                <a:ea typeface="Raleway"/>
                <a:cs typeface="Raleway"/>
                <a:sym typeface="Raleway"/>
              </a:rPr>
              <a:t>Outputs</a:t>
            </a:r>
            <a:endParaRPr b="1" sz="1300">
              <a:solidFill>
                <a:srgbClr val="6F0A1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79" name="Google Shape;179;p15"/>
          <p:cNvCxnSpPr/>
          <p:nvPr/>
        </p:nvCxnSpPr>
        <p:spPr>
          <a:xfrm rot="5400000">
            <a:off x="6672675" y="4258825"/>
            <a:ext cx="918900" cy="0"/>
          </a:xfrm>
          <a:prstGeom prst="straightConnector1">
            <a:avLst/>
          </a:prstGeom>
          <a:noFill/>
          <a:ln cap="flat" cmpd="sng" w="114300">
            <a:solidFill>
              <a:srgbClr val="6F0A1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15"/>
          <p:cNvCxnSpPr/>
          <p:nvPr/>
        </p:nvCxnSpPr>
        <p:spPr>
          <a:xfrm rot="5400000">
            <a:off x="1861350" y="4258825"/>
            <a:ext cx="918900" cy="0"/>
          </a:xfrm>
          <a:prstGeom prst="straightConnector1">
            <a:avLst/>
          </a:prstGeom>
          <a:noFill/>
          <a:ln cap="flat" cmpd="sng" w="114300">
            <a:solidFill>
              <a:srgbClr val="00677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5"/>
          <p:cNvSpPr txBox="1"/>
          <p:nvPr>
            <p:ph idx="2" type="subTitle"/>
          </p:nvPr>
        </p:nvSpPr>
        <p:spPr>
          <a:xfrm>
            <a:off x="1414800" y="4779100"/>
            <a:ext cx="6894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it" sz="800">
                <a:solidFill>
                  <a:srgbClr val="595959"/>
                </a:solidFill>
                <a:latin typeface="Raleway Light"/>
                <a:ea typeface="Raleway Light"/>
                <a:cs typeface="Raleway Light"/>
                <a:sym typeface="Raleway Light"/>
              </a:rPr>
              <a:t>Joint Detection of AI-Generated Images and Post-Processing Alterations in Real-World Scenarios - Agostini Antonio, Giorgia Saolini</a:t>
            </a:r>
            <a:endParaRPr sz="800">
              <a:solidFill>
                <a:srgbClr val="595959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6634" y="2807528"/>
            <a:ext cx="7425452" cy="23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6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</a:pPr>
            <a:r>
              <a:rPr lang="it"/>
              <a:t>Proposed Method</a:t>
            </a:r>
            <a:endParaRPr/>
          </a:p>
        </p:txBody>
      </p:sp>
      <p:sp>
        <p:nvSpPr>
          <p:cNvPr id="188" name="Google Shape;188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741680" y="1320801"/>
            <a:ext cx="7701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it" sz="1200">
                <a:solidFill>
                  <a:srgbClr val="9E9E9E"/>
                </a:solidFill>
                <a:latin typeface="Raleway"/>
                <a:ea typeface="Raleway"/>
                <a:cs typeface="Raleway"/>
                <a:sym typeface="Raleway"/>
              </a:rPr>
              <a:t>Proposed Multi-Task Method</a:t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ella slide 5  Ltotal​=αLRF​+βLTrans​ deve sembra una formula matematica" id="190" name="Google Shape;190;p16"/>
          <p:cNvPicPr preferRelativeResize="0"/>
          <p:nvPr/>
        </p:nvPicPr>
        <p:blipFill rotWithShape="1">
          <a:blip r:embed="rId4">
            <a:alphaModFix/>
          </a:blip>
          <a:srcRect b="25393" l="19376" r="49504" t="65984"/>
          <a:stretch/>
        </p:blipFill>
        <p:spPr>
          <a:xfrm>
            <a:off x="2312775" y="2773100"/>
            <a:ext cx="2166324" cy="3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67450" y="1007900"/>
            <a:ext cx="2215226" cy="165269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6"/>
          <p:cNvSpPr txBox="1"/>
          <p:nvPr/>
        </p:nvSpPr>
        <p:spPr>
          <a:xfrm>
            <a:off x="1010700" y="1687575"/>
            <a:ext cx="7122600" cy="15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Raleway"/>
              <a:buChar char="●"/>
            </a:pPr>
            <a:r>
              <a:rPr lang="it" sz="130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Shared backbone: pre-trained ResNet50</a:t>
            </a:r>
            <a:endParaRPr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ct val="100000"/>
              <a:buFont typeface="Raleway"/>
              <a:buChar char="●"/>
            </a:pPr>
            <a:r>
              <a:rPr lang="it" sz="13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Final ImageNet classifier removed: </a:t>
            </a:r>
            <a:r>
              <a:rPr i="1" lang="it" sz="13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fc = Identity() </a:t>
            </a:r>
            <a:endParaRPr i="1" sz="1300">
              <a:solidFill>
                <a:srgbClr val="555555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55555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ct val="100000"/>
              <a:buFont typeface="Raleway"/>
              <a:buChar char="●"/>
            </a:pPr>
            <a:r>
              <a:rPr lang="it" sz="13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Two task-specific heads: one for Real/Fake, one for Transformation type </a:t>
            </a:r>
            <a:endParaRPr sz="1300">
              <a:solidFill>
                <a:srgbClr val="555555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55555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ct val="100000"/>
              <a:buFont typeface="Raleway"/>
              <a:buChar char="●"/>
            </a:pPr>
            <a:r>
              <a:rPr lang="it" sz="13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Transformation classes: original, transfer, redigital</a:t>
            </a:r>
            <a:endParaRPr b="1" i="1" sz="1500">
              <a:solidFill>
                <a:srgbClr val="555555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555555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768" lvl="0" marL="45720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ct val="100000"/>
              <a:buFont typeface="Raleway"/>
              <a:buChar char="●"/>
            </a:pPr>
            <a:r>
              <a:rPr lang="it" sz="13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Joint Loss: </a:t>
            </a:r>
            <a:endParaRPr sz="1300">
              <a:solidFill>
                <a:srgbClr val="555555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7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</a:pPr>
            <a:r>
              <a:rPr lang="it"/>
              <a:t>Dataset &amp; Data Preparation Strategy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</a:pPr>
            <a:r>
              <a:t/>
            </a:r>
            <a:endParaRPr/>
          </a:p>
        </p:txBody>
      </p:sp>
      <p:sp>
        <p:nvSpPr>
          <p:cNvPr id="198" name="Google Shape;198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99" name="Google Shape;199;p17"/>
          <p:cNvSpPr txBox="1"/>
          <p:nvPr/>
        </p:nvSpPr>
        <p:spPr>
          <a:xfrm>
            <a:off x="741680" y="1320801"/>
            <a:ext cx="7701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9E9E9E"/>
                </a:solidFill>
                <a:latin typeface="Raleway"/>
                <a:ea typeface="Raleway"/>
                <a:cs typeface="Raleway"/>
                <a:sym typeface="Raleway"/>
              </a:rPr>
              <a:t>Dataset &amp; Preparation Strategy</a:t>
            </a:r>
            <a:endParaRPr sz="1200">
              <a:solidFill>
                <a:srgbClr val="9E9E9E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200" name="Google Shape;200;p17"/>
          <p:cNvGrpSpPr/>
          <p:nvPr/>
        </p:nvGrpSpPr>
        <p:grpSpPr>
          <a:xfrm>
            <a:off x="250925" y="1767175"/>
            <a:ext cx="3619350" cy="2292020"/>
            <a:chOff x="762000" y="1809750"/>
            <a:chExt cx="3619350" cy="2667000"/>
          </a:xfrm>
        </p:grpSpPr>
        <p:sp>
          <p:nvSpPr>
            <p:cNvPr id="201" name="Google Shape;201;p17"/>
            <p:cNvSpPr/>
            <p:nvPr/>
          </p:nvSpPr>
          <p:spPr>
            <a:xfrm>
              <a:off x="762000" y="1809750"/>
              <a:ext cx="57300" cy="2667000"/>
            </a:xfrm>
            <a:prstGeom prst="rect">
              <a:avLst/>
            </a:prstGeom>
            <a:solidFill>
              <a:srgbClr val="6F0A1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819150" y="1809750"/>
              <a:ext cx="3562200" cy="2667000"/>
            </a:xfrm>
            <a:prstGeom prst="roundRect">
              <a:avLst>
                <a:gd fmla="val 1428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17"/>
            <p:cNvSpPr txBox="1"/>
            <p:nvPr/>
          </p:nvSpPr>
          <p:spPr>
            <a:xfrm>
              <a:off x="1047600" y="1940916"/>
              <a:ext cx="31053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800">
                  <a:solidFill>
                    <a:srgbClr val="6F0A19"/>
                  </a:solidFill>
                  <a:latin typeface="Catamaran"/>
                  <a:ea typeface="Catamaran"/>
                  <a:cs typeface="Catamaran"/>
                  <a:sym typeface="Catamaran"/>
                </a:rPr>
                <a:t>Dataset: RRDataset</a:t>
              </a:r>
              <a:endParaRPr b="1" sz="180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sp>
          <p:nvSpPr>
            <p:cNvPr id="204" name="Google Shape;204;p17"/>
            <p:cNvSpPr txBox="1"/>
            <p:nvPr/>
          </p:nvSpPr>
          <p:spPr>
            <a:xfrm>
              <a:off x="959406" y="2465384"/>
              <a:ext cx="3395700" cy="198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-298450" lvl="0" marL="4572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55555"/>
                </a:buClr>
                <a:buSzPts val="1100"/>
                <a:buFont typeface="Raleway"/>
                <a:buChar char="●"/>
              </a:pPr>
              <a:r>
                <a:rPr b="1" lang="it" sz="11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Two image classes</a:t>
              </a:r>
              <a:r>
                <a:rPr lang="it" sz="1100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: Real and AI-generated</a:t>
              </a:r>
              <a:endParaRPr sz="11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298450" lvl="0" marL="457200" rtl="0" algn="l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555555"/>
                </a:buClr>
                <a:buSzPts val="1100"/>
                <a:buFont typeface="Raleway"/>
                <a:buChar char="●"/>
              </a:pPr>
              <a:r>
                <a:rPr b="1" lang="it" sz="11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Three transformation categories</a:t>
              </a:r>
              <a:r>
                <a:rPr lang="it" sz="1100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:</a:t>
              </a:r>
              <a:endParaRPr sz="11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298450" lvl="1" marL="9144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55555"/>
                </a:buClr>
                <a:buSzPts val="1100"/>
                <a:buFont typeface="Raleway"/>
                <a:buChar char="○"/>
              </a:pPr>
              <a:r>
                <a:rPr lang="it" sz="1100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original</a:t>
              </a:r>
              <a:endParaRPr sz="11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298450" lvl="1" marL="9144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55555"/>
                </a:buClr>
                <a:buSzPts val="1100"/>
                <a:buFont typeface="Raleway"/>
                <a:buChar char="○"/>
              </a:pPr>
              <a:r>
                <a:rPr lang="it" sz="1100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internet-transmitted</a:t>
              </a:r>
              <a:endParaRPr sz="11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298450" lvl="1" marL="9144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55555"/>
                </a:buClr>
                <a:buSzPts val="1100"/>
                <a:buFont typeface="Raleway"/>
                <a:buChar char="○"/>
              </a:pPr>
              <a:r>
                <a:rPr lang="it" sz="1100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re-digitized</a:t>
              </a:r>
              <a:endParaRPr sz="11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9144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1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298450" lvl="0" marL="4572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55555"/>
                </a:buClr>
                <a:buSzPts val="1100"/>
                <a:buFont typeface="Raleway"/>
                <a:buChar char="●"/>
              </a:pPr>
              <a:r>
                <a:rPr b="1" lang="it" sz="11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Balanced subset selection</a:t>
              </a:r>
              <a:r>
                <a:rPr lang="it" sz="1100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: allowed by the project track due to hardware constraints</a:t>
              </a:r>
              <a:endParaRPr b="1" sz="11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05" name="Google Shape;205;p17"/>
          <p:cNvGrpSpPr/>
          <p:nvPr/>
        </p:nvGrpSpPr>
        <p:grpSpPr>
          <a:xfrm>
            <a:off x="5171175" y="1767175"/>
            <a:ext cx="3619350" cy="2292020"/>
            <a:chOff x="4762500" y="1809750"/>
            <a:chExt cx="3619350" cy="2667000"/>
          </a:xfrm>
        </p:grpSpPr>
        <p:sp>
          <p:nvSpPr>
            <p:cNvPr id="206" name="Google Shape;206;p17"/>
            <p:cNvSpPr/>
            <p:nvPr/>
          </p:nvSpPr>
          <p:spPr>
            <a:xfrm>
              <a:off x="4762500" y="1809750"/>
              <a:ext cx="57300" cy="2667000"/>
            </a:xfrm>
            <a:prstGeom prst="rect">
              <a:avLst/>
            </a:prstGeom>
            <a:solidFill>
              <a:srgbClr val="0067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4819650" y="1809750"/>
              <a:ext cx="3562200" cy="2667000"/>
            </a:xfrm>
            <a:prstGeom prst="roundRect">
              <a:avLst>
                <a:gd fmla="val 1428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7"/>
            <p:cNvSpPr txBox="1"/>
            <p:nvPr/>
          </p:nvSpPr>
          <p:spPr>
            <a:xfrm>
              <a:off x="5048100" y="1976326"/>
              <a:ext cx="3105300" cy="32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800">
                  <a:solidFill>
                    <a:srgbClr val="006778"/>
                  </a:solidFill>
                  <a:latin typeface="Catamaran"/>
                  <a:ea typeface="Catamaran"/>
                  <a:cs typeface="Catamaran"/>
                  <a:sym typeface="Catamaran"/>
                </a:rPr>
                <a:t>Preparation Strategy</a:t>
              </a:r>
              <a:endParaRPr b="1" sz="1800">
                <a:solidFill>
                  <a:srgbClr val="006778"/>
                </a:solidFill>
                <a:latin typeface="Catamaran"/>
                <a:ea typeface="Catamaran"/>
                <a:cs typeface="Catamaran"/>
                <a:sym typeface="Catamaran"/>
              </a:endParaRPr>
            </a:p>
          </p:txBody>
        </p:sp>
        <p:sp>
          <p:nvSpPr>
            <p:cNvPr id="209" name="Google Shape;209;p17"/>
            <p:cNvSpPr txBox="1"/>
            <p:nvPr/>
          </p:nvSpPr>
          <p:spPr>
            <a:xfrm>
              <a:off x="4995183" y="2465382"/>
              <a:ext cx="3333600" cy="198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rmAutofit/>
            </a:bodyPr>
            <a:lstStyle/>
            <a:p>
              <a:pPr indent="-298450" lvl="0" marL="4572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55555"/>
                </a:buClr>
                <a:buSzPts val="1100"/>
                <a:buFont typeface="Raleway"/>
                <a:buChar char="●"/>
              </a:pPr>
              <a:r>
                <a:rPr b="1" lang="it" sz="11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Built disjoint train / validation / test splits</a:t>
              </a:r>
              <a:r>
                <a:rPr b="1" lang="it" sz="1100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: </a:t>
              </a:r>
              <a:r>
                <a:rPr lang="it" sz="1100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from the real benchmark.</a:t>
              </a:r>
              <a:endParaRPr sz="11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4572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298450" lvl="0" marL="4572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55555"/>
                </a:buClr>
                <a:buSzPts val="1100"/>
                <a:buFont typeface="Raleway"/>
                <a:buChar char="●"/>
              </a:pPr>
              <a:r>
                <a:rPr b="1" lang="it" sz="1100">
                  <a:solidFill>
                    <a:schemeClr val="dk2"/>
                  </a:solidFill>
                  <a:latin typeface="Raleway"/>
                  <a:ea typeface="Raleway"/>
                  <a:cs typeface="Raleway"/>
                  <a:sym typeface="Raleway"/>
                </a:rPr>
                <a:t>Balance was preserved across</a:t>
              </a:r>
              <a:r>
                <a:rPr lang="it" sz="1100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:</a:t>
              </a:r>
              <a:endParaRPr sz="11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298450" lvl="1" marL="9144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55555"/>
                </a:buClr>
                <a:buSzPts val="1100"/>
                <a:buFont typeface="Raleway"/>
                <a:buChar char="○"/>
              </a:pPr>
              <a:r>
                <a:rPr lang="it" sz="1100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Real vs. Fake</a:t>
              </a:r>
              <a:endParaRPr sz="11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298450" lvl="1" marL="9144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55555"/>
                </a:buClr>
                <a:buSzPts val="1100"/>
                <a:buFont typeface="Raleway"/>
                <a:buChar char="○"/>
              </a:pPr>
              <a:r>
                <a:rPr lang="it" sz="1100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Original / Transfer / Redigital</a:t>
              </a:r>
              <a:endParaRPr sz="11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0" lvl="0" marL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endParaRPr>
            </a:p>
            <a:p>
              <a:pPr indent="-298450" lvl="0" marL="45720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55555"/>
                </a:buClr>
                <a:buSzPts val="1100"/>
                <a:buFont typeface="Raleway"/>
                <a:buChar char="●"/>
              </a:pPr>
              <a:r>
                <a:rPr lang="it" sz="1100">
                  <a:solidFill>
                    <a:srgbClr val="555555"/>
                  </a:solidFill>
                  <a:latin typeface="Raleway"/>
                  <a:ea typeface="Raleway"/>
                  <a:cs typeface="Raleway"/>
                  <a:sym typeface="Raleway"/>
                </a:rPr>
                <a:t>Preferred real benchmark transformations over synthetic on-the-fly simulation.</a:t>
              </a:r>
              <a:endParaRPr b="1" sz="1150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210" name="Google Shape;210;p17"/>
          <p:cNvSpPr/>
          <p:nvPr/>
        </p:nvSpPr>
        <p:spPr>
          <a:xfrm>
            <a:off x="5480725" y="4059188"/>
            <a:ext cx="3249000" cy="535200"/>
          </a:xfrm>
          <a:prstGeom prst="roundRect">
            <a:avLst>
              <a:gd fmla="val 16667" name="adj"/>
            </a:avLst>
          </a:prstGeom>
          <a:solidFill>
            <a:srgbClr val="A0C6CD"/>
          </a:solidFill>
          <a:ln cap="flat" cmpd="sng" w="38100">
            <a:solidFill>
              <a:srgbClr val="0067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211" name="Google Shape;211;p17"/>
          <p:cNvSpPr txBox="1"/>
          <p:nvPr/>
        </p:nvSpPr>
        <p:spPr>
          <a:xfrm>
            <a:off x="5508775" y="4080038"/>
            <a:ext cx="3192900" cy="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50">
                <a:solidFill>
                  <a:srgbClr val="006778"/>
                </a:solidFill>
                <a:latin typeface="Raleway"/>
                <a:ea typeface="Raleway"/>
                <a:cs typeface="Raleway"/>
                <a:sym typeface="Raleway"/>
              </a:rPr>
              <a:t>This approach significantly reduces the domain gap between training and evaluation.</a:t>
            </a:r>
            <a:r>
              <a:rPr b="1" lang="it" sz="1100">
                <a:solidFill>
                  <a:srgbClr val="006778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1300">
              <a:solidFill>
                <a:srgbClr val="006778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3816725" y="1788150"/>
            <a:ext cx="1258800" cy="2292000"/>
          </a:xfrm>
          <a:prstGeom prst="roundRect">
            <a:avLst>
              <a:gd fmla="val 16667" name="adj"/>
            </a:avLst>
          </a:prstGeom>
          <a:solidFill>
            <a:srgbClr val="822433"/>
          </a:solidFill>
          <a:ln cap="flat" cmpd="sng" w="38100">
            <a:solidFill>
              <a:srgbClr val="6F0A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F0A19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213" name="Google Shape;213;p17"/>
          <p:cNvSpPr txBox="1"/>
          <p:nvPr/>
        </p:nvSpPr>
        <p:spPr>
          <a:xfrm>
            <a:off x="3812710" y="1749602"/>
            <a:ext cx="1302000" cy="25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RRDataset</a:t>
            </a:r>
            <a:endParaRPr sz="13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   ├── original</a:t>
            </a:r>
            <a:endParaRPr sz="13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   │   ├── ai</a:t>
            </a:r>
            <a:endParaRPr sz="13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   │   │   └── images...</a:t>
            </a:r>
            <a:endParaRPr sz="13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   │   └── real</a:t>
            </a:r>
            <a:endParaRPr sz="13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   │       └── images...</a:t>
            </a:r>
            <a:endParaRPr sz="13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   ├── transfer</a:t>
            </a:r>
            <a:endParaRPr sz="13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   │   ├── ai</a:t>
            </a:r>
            <a:endParaRPr sz="13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   │   │   └── images...</a:t>
            </a:r>
            <a:endParaRPr sz="13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   │   └── real</a:t>
            </a:r>
            <a:endParaRPr sz="13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   │       └── images...</a:t>
            </a:r>
            <a:endParaRPr sz="13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   └── redigital</a:t>
            </a:r>
            <a:endParaRPr sz="13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       ├── ai</a:t>
            </a:r>
            <a:endParaRPr sz="13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       │   └── images...</a:t>
            </a:r>
            <a:endParaRPr sz="13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       └── real</a:t>
            </a:r>
            <a:endParaRPr sz="13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            └── images...</a:t>
            </a:r>
            <a:endParaRPr sz="130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214" name="Google Shape;214;p17"/>
          <p:cNvSpPr txBox="1"/>
          <p:nvPr>
            <p:ph idx="2" type="subTitle"/>
          </p:nvPr>
        </p:nvSpPr>
        <p:spPr>
          <a:xfrm>
            <a:off x="1414800" y="4779100"/>
            <a:ext cx="6894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it" sz="800">
                <a:solidFill>
                  <a:srgbClr val="595959"/>
                </a:solidFill>
                <a:latin typeface="Raleway Light"/>
                <a:ea typeface="Raleway Light"/>
                <a:cs typeface="Raleway Light"/>
                <a:sym typeface="Raleway Light"/>
              </a:rPr>
              <a:t>Joint Detection of AI-Generated Images and Post-Processing Alterations in Real-World Scenarios - Agostini Antonio, Giorgia Saolini</a:t>
            </a:r>
            <a:endParaRPr sz="800">
              <a:solidFill>
                <a:srgbClr val="595959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/>
          <p:nvPr/>
        </p:nvSpPr>
        <p:spPr>
          <a:xfrm>
            <a:off x="0" y="4129750"/>
            <a:ext cx="1327200" cy="1013700"/>
          </a:xfrm>
          <a:prstGeom prst="rtTriangle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18"/>
          <p:cNvPicPr preferRelativeResize="0"/>
          <p:nvPr/>
        </p:nvPicPr>
        <p:blipFill rotWithShape="1">
          <a:blip r:embed="rId3">
            <a:alphaModFix/>
          </a:blip>
          <a:srcRect b="16523" l="7088" r="9620" t="14912"/>
          <a:stretch/>
        </p:blipFill>
        <p:spPr>
          <a:xfrm>
            <a:off x="99550" y="4626400"/>
            <a:ext cx="505675" cy="4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8"/>
          <p:cNvSpPr/>
          <p:nvPr/>
        </p:nvSpPr>
        <p:spPr>
          <a:xfrm flipH="1" rot="10800000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8"/>
          <p:cNvSpPr/>
          <p:nvPr/>
        </p:nvSpPr>
        <p:spPr>
          <a:xfrm flipH="1" rot="10800000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8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</a:pPr>
            <a:r>
              <a:rPr lang="it"/>
              <a:t>Experimental Setup</a:t>
            </a:r>
            <a:endParaRPr/>
          </a:p>
        </p:txBody>
      </p:sp>
      <p:sp>
        <p:nvSpPr>
          <p:cNvPr id="225" name="Google Shape;225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741680" y="1320801"/>
            <a:ext cx="7701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it" sz="1200">
                <a:solidFill>
                  <a:srgbClr val="9E9E9E"/>
                </a:solidFill>
                <a:latin typeface="Raleway"/>
                <a:ea typeface="Raleway"/>
                <a:cs typeface="Raleway"/>
                <a:sym typeface="Raleway"/>
              </a:rPr>
              <a:t>Experimental Setup &amp; Evaluation Protocol</a:t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18" title="ResNet50.png"/>
          <p:cNvPicPr preferRelativeResize="0"/>
          <p:nvPr/>
        </p:nvPicPr>
        <p:blipFill rotWithShape="1">
          <a:blip r:embed="rId4">
            <a:alphaModFix/>
          </a:blip>
          <a:srcRect b="0" l="0" r="52888" t="0"/>
          <a:stretch/>
        </p:blipFill>
        <p:spPr>
          <a:xfrm>
            <a:off x="6137500" y="1231825"/>
            <a:ext cx="3006501" cy="3063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8"/>
          <p:cNvSpPr/>
          <p:nvPr/>
        </p:nvSpPr>
        <p:spPr>
          <a:xfrm>
            <a:off x="394630" y="1710862"/>
            <a:ext cx="2372411" cy="2263273"/>
          </a:xfrm>
          <a:prstGeom prst="roundRect">
            <a:avLst>
              <a:gd fmla="val 1666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513254" y="1881071"/>
            <a:ext cx="21351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34"/>
              </a:spcAft>
              <a:buNone/>
            </a:pPr>
            <a:r>
              <a:rPr b="1" lang="it" sz="1453">
                <a:solidFill>
                  <a:srgbClr val="006778"/>
                </a:solidFill>
                <a:latin typeface="Catamaran"/>
                <a:ea typeface="Catamaran"/>
                <a:cs typeface="Catamaran"/>
                <a:sym typeface="Catamaran"/>
              </a:rPr>
              <a:t>Data Configuration</a:t>
            </a:r>
            <a:endParaRPr sz="1090">
              <a:solidFill>
                <a:srgbClr val="555555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0" name="Google Shape;230;p18"/>
          <p:cNvSpPr/>
          <p:nvPr/>
        </p:nvSpPr>
        <p:spPr>
          <a:xfrm>
            <a:off x="3770650" y="1930649"/>
            <a:ext cx="59400" cy="20433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8"/>
          <p:cNvSpPr/>
          <p:nvPr/>
        </p:nvSpPr>
        <p:spPr>
          <a:xfrm>
            <a:off x="3829966" y="1740797"/>
            <a:ext cx="2471400" cy="2213400"/>
          </a:xfrm>
          <a:prstGeom prst="roundRect">
            <a:avLst>
              <a:gd fmla="val 160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8"/>
          <p:cNvSpPr txBox="1"/>
          <p:nvPr/>
        </p:nvSpPr>
        <p:spPr>
          <a:xfrm>
            <a:off x="3948586" y="1638948"/>
            <a:ext cx="2234100" cy="20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53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rPr>
              <a:t>Training &amp; Optimization</a:t>
            </a:r>
            <a:endParaRPr b="1" sz="1453">
              <a:solidFill>
                <a:srgbClr val="6F0A19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934"/>
              </a:spcBef>
              <a:spcAft>
                <a:spcPts val="0"/>
              </a:spcAft>
              <a:buNone/>
            </a:pPr>
            <a:r>
              <a:rPr b="1" lang="it" sz="1142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Training Protocol</a:t>
            </a:r>
            <a:endParaRPr b="1" sz="1142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311"/>
              </a:spcBef>
              <a:spcAft>
                <a:spcPts val="0"/>
              </a:spcAft>
              <a:buNone/>
            </a:pPr>
            <a:r>
              <a:rPr lang="it" sz="1038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Two-phase: Frozen backbone first, then progressive unfreezing </a:t>
            </a:r>
            <a:endParaRPr sz="1038">
              <a:solidFill>
                <a:srgbClr val="555555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934"/>
              </a:spcBef>
              <a:spcAft>
                <a:spcPts val="0"/>
              </a:spcAft>
              <a:buNone/>
            </a:pPr>
            <a:r>
              <a:rPr b="1" lang="it" sz="1142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Optimizer</a:t>
            </a:r>
            <a:endParaRPr b="1" sz="1142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311"/>
              </a:spcBef>
              <a:spcAft>
                <a:spcPts val="0"/>
              </a:spcAft>
              <a:buNone/>
            </a:pPr>
            <a:r>
              <a:rPr lang="it" sz="1038">
                <a:solidFill>
                  <a:srgbClr val="555555"/>
                </a:solidFill>
                <a:latin typeface="Raleway"/>
                <a:ea typeface="Raleway"/>
                <a:cs typeface="Raleway"/>
                <a:sym typeface="Raleway"/>
              </a:rPr>
              <a:t>AdamW with mixed precision, label smoothing (0.05), and early stopping</a:t>
            </a:r>
            <a:endParaRPr sz="1038">
              <a:solidFill>
                <a:srgbClr val="555555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33" name="Google Shape;233;p18"/>
          <p:cNvSpPr/>
          <p:nvPr/>
        </p:nvSpPr>
        <p:spPr>
          <a:xfrm>
            <a:off x="335375" y="1881075"/>
            <a:ext cx="59400" cy="20931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775" y="2154650"/>
            <a:ext cx="3376025" cy="1883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8"/>
          <p:cNvSpPr/>
          <p:nvPr/>
        </p:nvSpPr>
        <p:spPr>
          <a:xfrm>
            <a:off x="6137500" y="2454600"/>
            <a:ext cx="866400" cy="364500"/>
          </a:xfrm>
          <a:prstGeom prst="rect">
            <a:avLst/>
          </a:prstGeom>
          <a:solidFill>
            <a:srgbClr val="6F0A19"/>
          </a:solidFill>
          <a:ln cap="flat" cmpd="sng" w="9525">
            <a:solidFill>
              <a:srgbClr val="6F0A1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F0A19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236" name="Google Shape;236;p18"/>
          <p:cNvSpPr txBox="1"/>
          <p:nvPr/>
        </p:nvSpPr>
        <p:spPr>
          <a:xfrm>
            <a:off x="6115400" y="2430700"/>
            <a:ext cx="9570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rgbClr val="F9F9F9"/>
                </a:solidFill>
                <a:latin typeface="Catamaran"/>
                <a:ea typeface="Catamaran"/>
                <a:cs typeface="Catamaran"/>
                <a:sym typeface="Catamaran"/>
              </a:rPr>
              <a:t>ResNet 50</a:t>
            </a:r>
            <a:endParaRPr b="1" sz="1300">
              <a:solidFill>
                <a:srgbClr val="F9F9F9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237" name="Google Shape;237;p18"/>
          <p:cNvSpPr txBox="1"/>
          <p:nvPr>
            <p:ph idx="2" type="subTitle"/>
          </p:nvPr>
        </p:nvSpPr>
        <p:spPr>
          <a:xfrm>
            <a:off x="1414800" y="4779100"/>
            <a:ext cx="6894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it" sz="800">
                <a:solidFill>
                  <a:srgbClr val="595959"/>
                </a:solidFill>
                <a:latin typeface="Raleway Light"/>
                <a:ea typeface="Raleway Light"/>
                <a:cs typeface="Raleway Light"/>
                <a:sym typeface="Raleway Light"/>
              </a:rPr>
              <a:t>Joint Detection of AI-Generated Images and Post-Processing Alterations in Real-World Scenarios - Agostini Antonio, Giorgia Saolini</a:t>
            </a:r>
            <a:endParaRPr sz="800">
              <a:solidFill>
                <a:srgbClr val="595959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43" name="Google Shape;243;p19"/>
          <p:cNvSpPr txBox="1"/>
          <p:nvPr/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it" sz="26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Training Pipeline Setup</a:t>
            </a:r>
            <a:endParaRPr b="1" sz="260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244" name="Google Shape;244;p19"/>
          <p:cNvSpPr txBox="1"/>
          <p:nvPr/>
        </p:nvSpPr>
        <p:spPr>
          <a:xfrm>
            <a:off x="741680" y="1320801"/>
            <a:ext cx="7701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it" sz="1200">
                <a:solidFill>
                  <a:srgbClr val="9E9E9E"/>
                </a:solidFill>
                <a:latin typeface="Raleway"/>
                <a:ea typeface="Raleway"/>
                <a:cs typeface="Raleway"/>
                <a:sym typeface="Raleway"/>
              </a:rPr>
              <a:t>Experimental Setup &amp; Evaluation Protocol</a:t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5" name="Google Shape;245;p19"/>
          <p:cNvGrpSpPr/>
          <p:nvPr/>
        </p:nvGrpSpPr>
        <p:grpSpPr>
          <a:xfrm>
            <a:off x="679950" y="3201400"/>
            <a:ext cx="7696200" cy="362100"/>
            <a:chOff x="723900" y="1571625"/>
            <a:chExt cx="7696200" cy="362100"/>
          </a:xfrm>
        </p:grpSpPr>
        <p:sp>
          <p:nvSpPr>
            <p:cNvPr id="246" name="Google Shape;246;p19"/>
            <p:cNvSpPr/>
            <p:nvPr/>
          </p:nvSpPr>
          <p:spPr>
            <a:xfrm>
              <a:off x="723900" y="1571625"/>
              <a:ext cx="7696200" cy="362100"/>
            </a:xfrm>
            <a:prstGeom prst="roundRect">
              <a:avLst>
                <a:gd fmla="val 10526" name="adj"/>
              </a:avLst>
            </a:prstGeom>
            <a:solidFill>
              <a:srgbClr val="E6F0F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723900" y="1571625"/>
              <a:ext cx="38100" cy="362100"/>
            </a:xfrm>
            <a:prstGeom prst="rect">
              <a:avLst/>
            </a:prstGeom>
            <a:solidFill>
              <a:srgbClr val="0067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9"/>
            <p:cNvSpPr txBox="1"/>
            <p:nvPr/>
          </p:nvSpPr>
          <p:spPr>
            <a:xfrm>
              <a:off x="876300" y="1571625"/>
              <a:ext cx="74295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000">
                  <a:solidFill>
                    <a:srgbClr val="006778"/>
                  </a:solidFill>
                  <a:latin typeface="Raleway"/>
                  <a:ea typeface="Raleway"/>
                  <a:cs typeface="Raleway"/>
                  <a:sym typeface="Raleway"/>
                </a:rPr>
                <a:t>Why this strategy?</a:t>
              </a:r>
              <a:r>
                <a:rPr lang="it" sz="100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 Start stable, adapt late features first, then progressively refine deeper forensic representations.</a:t>
              </a:r>
              <a:endParaRPr sz="10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grpSp>
        <p:nvGrpSpPr>
          <p:cNvPr id="249" name="Google Shape;249;p19"/>
          <p:cNvGrpSpPr/>
          <p:nvPr/>
        </p:nvGrpSpPr>
        <p:grpSpPr>
          <a:xfrm>
            <a:off x="679875" y="1628650"/>
            <a:ext cx="7696350" cy="1447800"/>
            <a:chOff x="723900" y="2047875"/>
            <a:chExt cx="7696350" cy="1447800"/>
          </a:xfrm>
        </p:grpSpPr>
        <p:sp>
          <p:nvSpPr>
            <p:cNvPr id="250" name="Google Shape;250;p19"/>
            <p:cNvSpPr/>
            <p:nvPr/>
          </p:nvSpPr>
          <p:spPr>
            <a:xfrm>
              <a:off x="723900" y="2047875"/>
              <a:ext cx="2409900" cy="1447800"/>
            </a:xfrm>
            <a:prstGeom prst="roundRect">
              <a:avLst>
                <a:gd fmla="val 263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9"/>
            <p:cNvSpPr/>
            <p:nvPr/>
          </p:nvSpPr>
          <p:spPr>
            <a:xfrm>
              <a:off x="723900" y="2047875"/>
              <a:ext cx="38100" cy="1447800"/>
            </a:xfrm>
            <a:prstGeom prst="roundRect">
              <a:avLst>
                <a:gd fmla="val 50000" name="adj"/>
              </a:avLst>
            </a:prstGeom>
            <a:solidFill>
              <a:srgbClr val="6F0A1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9"/>
            <p:cNvSpPr txBox="1"/>
            <p:nvPr/>
          </p:nvSpPr>
          <p:spPr>
            <a:xfrm>
              <a:off x="857250" y="2124075"/>
              <a:ext cx="2181300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200">
                  <a:solidFill>
                    <a:srgbClr val="6F0A19"/>
                  </a:solidFill>
                  <a:latin typeface="Catamaran"/>
                  <a:ea typeface="Catamaran"/>
                  <a:cs typeface="Catamaran"/>
                  <a:sym typeface="Catamaran"/>
                </a:rPr>
                <a:t>Phase</a:t>
              </a:r>
              <a:r>
                <a:rPr b="1" lang="it" sz="1200">
                  <a:solidFill>
                    <a:srgbClr val="6F0A19"/>
                  </a:solidFill>
                  <a:latin typeface="Catamaran"/>
                  <a:ea typeface="Catamaran"/>
                  <a:cs typeface="Catamaran"/>
                  <a:sym typeface="Catamaran"/>
                </a:rPr>
                <a:t> 1 — Head Warm-Up</a:t>
              </a:r>
              <a:endParaRPr b="1" sz="120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Backbone fully frozen; only the real/fake and transformation </a:t>
              </a:r>
              <a:r>
                <a:rPr b="1" lang="it" sz="950">
                  <a:solidFill>
                    <a:srgbClr val="6F0A19"/>
                  </a:solidFill>
                  <a:latin typeface="Raleway"/>
                  <a:ea typeface="Raleway"/>
                  <a:cs typeface="Raleway"/>
                  <a:sym typeface="Raleway"/>
                </a:rPr>
                <a:t>heads</a:t>
              </a:r>
              <a:r>
                <a:rPr b="0" lang="it" sz="950">
                  <a:solidFill>
                    <a:srgbClr val="6F0A19"/>
                  </a:solidFill>
                  <a:latin typeface="Raleway"/>
                  <a:ea typeface="Raleway"/>
                  <a:cs typeface="Raleway"/>
                  <a:sym typeface="Raleway"/>
                </a:rPr>
                <a:t> </a:t>
              </a:r>
              <a:r>
                <a:rPr b="0" lang="it" sz="95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are trained. This stabilizes the multitask classifier before modifying pretrained features.</a:t>
              </a:r>
              <a:endParaRPr b="0" sz="95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3" name="Google Shape;253;p19"/>
            <p:cNvSpPr/>
            <p:nvPr/>
          </p:nvSpPr>
          <p:spPr>
            <a:xfrm>
              <a:off x="3362325" y="2047875"/>
              <a:ext cx="2409900" cy="1447800"/>
            </a:xfrm>
            <a:prstGeom prst="roundRect">
              <a:avLst>
                <a:gd fmla="val 263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9"/>
            <p:cNvSpPr/>
            <p:nvPr/>
          </p:nvSpPr>
          <p:spPr>
            <a:xfrm>
              <a:off x="3362325" y="2047875"/>
              <a:ext cx="38100" cy="1447800"/>
            </a:xfrm>
            <a:prstGeom prst="roundRect">
              <a:avLst>
                <a:gd fmla="val 50000" name="adj"/>
              </a:avLst>
            </a:prstGeom>
            <a:solidFill>
              <a:srgbClr val="00677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9"/>
            <p:cNvSpPr txBox="1"/>
            <p:nvPr/>
          </p:nvSpPr>
          <p:spPr>
            <a:xfrm>
              <a:off x="3495675" y="2124075"/>
              <a:ext cx="2181300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200">
                  <a:solidFill>
                    <a:srgbClr val="006778"/>
                  </a:solidFill>
                  <a:latin typeface="Catamaran"/>
                  <a:ea typeface="Catamaran"/>
                  <a:cs typeface="Catamaran"/>
                  <a:sym typeface="Catamaran"/>
                </a:rPr>
                <a:t>Phase</a:t>
              </a:r>
              <a:r>
                <a:rPr b="1" lang="it" sz="1200">
                  <a:solidFill>
                    <a:srgbClr val="006778"/>
                  </a:solidFill>
                  <a:latin typeface="Catamaran"/>
                  <a:ea typeface="Catamaran"/>
                  <a:cs typeface="Catamaran"/>
                  <a:sym typeface="Catamaran"/>
                </a:rPr>
                <a:t> 2.1 — Last-Block FT</a:t>
              </a:r>
              <a:endParaRPr b="1" sz="1200">
                <a:solidFill>
                  <a:srgbClr val="006778"/>
                </a:solidFill>
                <a:latin typeface="Catamaran"/>
                <a:ea typeface="Catamaran"/>
                <a:cs typeface="Catamaran"/>
                <a:sym typeface="Catamaran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it" sz="950">
                  <a:solidFill>
                    <a:srgbClr val="006778"/>
                  </a:solidFill>
                  <a:highlight>
                    <a:schemeClr val="lt1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l</a:t>
              </a:r>
              <a:r>
                <a:rPr b="1" lang="it" sz="950">
                  <a:solidFill>
                    <a:srgbClr val="006778"/>
                  </a:solidFill>
                  <a:highlight>
                    <a:schemeClr val="lt1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ayer4</a:t>
              </a:r>
              <a:r>
                <a:rPr b="0" lang="it" sz="95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 is unfrozen, while the heads remain trainable. A lower learning rate is used for the backbone and a higher one for heads to preserve knowledge.</a:t>
              </a:r>
              <a:endParaRPr b="0" sz="95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256" name="Google Shape;256;p19"/>
            <p:cNvSpPr/>
            <p:nvPr/>
          </p:nvSpPr>
          <p:spPr>
            <a:xfrm>
              <a:off x="6000750" y="2047875"/>
              <a:ext cx="2419500" cy="1447800"/>
            </a:xfrm>
            <a:prstGeom prst="roundRect">
              <a:avLst>
                <a:gd fmla="val 263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9"/>
            <p:cNvSpPr/>
            <p:nvPr/>
          </p:nvSpPr>
          <p:spPr>
            <a:xfrm>
              <a:off x="6000750" y="2047875"/>
              <a:ext cx="38100" cy="1447800"/>
            </a:xfrm>
            <a:prstGeom prst="roundRect">
              <a:avLst>
                <a:gd fmla="val 50000" name="adj"/>
              </a:avLst>
            </a:prstGeom>
            <a:solidFill>
              <a:srgbClr val="16653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9"/>
            <p:cNvSpPr txBox="1"/>
            <p:nvPr/>
          </p:nvSpPr>
          <p:spPr>
            <a:xfrm>
              <a:off x="6134100" y="2124075"/>
              <a:ext cx="2190900" cy="129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1200">
                  <a:solidFill>
                    <a:srgbClr val="166534"/>
                  </a:solidFill>
                  <a:latin typeface="Catamaran"/>
                  <a:ea typeface="Catamaran"/>
                  <a:cs typeface="Catamaran"/>
                  <a:sym typeface="Catamaran"/>
                </a:rPr>
                <a:t>Phase</a:t>
              </a:r>
              <a:r>
                <a:rPr b="1" lang="it" sz="1200">
                  <a:solidFill>
                    <a:srgbClr val="166534"/>
                  </a:solidFill>
                  <a:latin typeface="Catamaran"/>
                  <a:ea typeface="Catamaran"/>
                  <a:cs typeface="Catamaran"/>
                  <a:sym typeface="Catamaran"/>
                </a:rPr>
                <a:t> 2.2 — Deeper FT</a:t>
              </a:r>
              <a:endParaRPr b="1" sz="1200">
                <a:solidFill>
                  <a:srgbClr val="166534"/>
                </a:solidFill>
                <a:latin typeface="Catamaran"/>
                <a:ea typeface="Catamaran"/>
                <a:cs typeface="Catamaran"/>
                <a:sym typeface="Catamaran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it" sz="95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After Phase 2 early epochs, </a:t>
              </a:r>
              <a:r>
                <a:rPr b="1" lang="it" sz="95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layer3</a:t>
              </a:r>
              <a:r>
                <a:rPr b="0" lang="it" sz="950">
                  <a:solidFill>
                    <a:srgbClr val="1A1A1A"/>
                  </a:solidFill>
                  <a:latin typeface="Raleway"/>
                  <a:ea typeface="Raleway"/>
                  <a:cs typeface="Raleway"/>
                  <a:sym typeface="Raleway"/>
                </a:rPr>
                <a:t> is also unfrozen. This enables deeper adaptation of forensic representations without abruptly opening the network.</a:t>
              </a:r>
              <a:endParaRPr b="0" sz="95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pic>
        <p:nvPicPr>
          <p:cNvPr id="259" name="Google Shape;259;p19"/>
          <p:cNvPicPr preferRelativeResize="0"/>
          <p:nvPr/>
        </p:nvPicPr>
        <p:blipFill rotWithShape="1">
          <a:blip r:embed="rId3">
            <a:alphaModFix/>
          </a:blip>
          <a:srcRect b="8220" l="0" r="0" t="238"/>
          <a:stretch/>
        </p:blipFill>
        <p:spPr>
          <a:xfrm>
            <a:off x="2051550" y="3563488"/>
            <a:ext cx="4953000" cy="11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9"/>
          <p:cNvSpPr txBox="1"/>
          <p:nvPr/>
        </p:nvSpPr>
        <p:spPr>
          <a:xfrm>
            <a:off x="6477017" y="3642117"/>
            <a:ext cx="11730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rPr>
              <a:t>Heads</a:t>
            </a:r>
            <a:endParaRPr b="1" sz="1300">
              <a:solidFill>
                <a:srgbClr val="6F0A19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261" name="Google Shape;261;p19"/>
          <p:cNvSpPr txBox="1"/>
          <p:nvPr/>
        </p:nvSpPr>
        <p:spPr>
          <a:xfrm>
            <a:off x="5635881" y="3633325"/>
            <a:ext cx="11730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rgbClr val="006778"/>
                </a:solidFill>
                <a:latin typeface="Catamaran"/>
                <a:ea typeface="Catamaran"/>
                <a:cs typeface="Catamaran"/>
                <a:sym typeface="Catamaran"/>
              </a:rPr>
              <a:t>Layer 4</a:t>
            </a:r>
            <a:endParaRPr b="1" sz="1300">
              <a:solidFill>
                <a:srgbClr val="006778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262" name="Google Shape;262;p19"/>
          <p:cNvSpPr txBox="1"/>
          <p:nvPr/>
        </p:nvSpPr>
        <p:spPr>
          <a:xfrm>
            <a:off x="4785944" y="3627410"/>
            <a:ext cx="11730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rgbClr val="188038"/>
                </a:solidFill>
                <a:latin typeface="Catamaran"/>
                <a:ea typeface="Catamaran"/>
                <a:cs typeface="Catamaran"/>
                <a:sym typeface="Catamaran"/>
              </a:rPr>
              <a:t>Layer 3</a:t>
            </a:r>
            <a:endParaRPr b="1" sz="1300">
              <a:solidFill>
                <a:srgbClr val="188038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263" name="Google Shape;263;p19"/>
          <p:cNvSpPr txBox="1"/>
          <p:nvPr/>
        </p:nvSpPr>
        <p:spPr>
          <a:xfrm>
            <a:off x="3197488" y="3642125"/>
            <a:ext cx="14910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rPr>
              <a:t>Other layers (1-2)</a:t>
            </a:r>
            <a:endParaRPr b="1" sz="1300">
              <a:solidFill>
                <a:schemeClr val="dk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264" name="Google Shape;264;p19"/>
          <p:cNvSpPr txBox="1"/>
          <p:nvPr>
            <p:ph idx="2" type="subTitle"/>
          </p:nvPr>
        </p:nvSpPr>
        <p:spPr>
          <a:xfrm>
            <a:off x="1414800" y="4779100"/>
            <a:ext cx="6894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it" sz="800">
                <a:solidFill>
                  <a:srgbClr val="595959"/>
                </a:solidFill>
                <a:latin typeface="Raleway Light"/>
                <a:ea typeface="Raleway Light"/>
                <a:cs typeface="Raleway Light"/>
                <a:sym typeface="Raleway Light"/>
              </a:rPr>
              <a:t>Joint Detection of AI-Generated Images and Post-Processing Alterations in Real-World Scenarios - Agostini Antonio, Giorgia Saolini</a:t>
            </a:r>
            <a:endParaRPr sz="800">
              <a:solidFill>
                <a:srgbClr val="595959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"/>
          <p:cNvSpPr/>
          <p:nvPr/>
        </p:nvSpPr>
        <p:spPr>
          <a:xfrm>
            <a:off x="0" y="4129750"/>
            <a:ext cx="1327200" cy="1013700"/>
          </a:xfrm>
          <a:prstGeom prst="rtTriangle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0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p20"/>
          <p:cNvPicPr preferRelativeResize="0"/>
          <p:nvPr/>
        </p:nvPicPr>
        <p:blipFill rotWithShape="1">
          <a:blip r:embed="rId3">
            <a:alphaModFix/>
          </a:blip>
          <a:srcRect b="16524" l="7088" r="9620" t="14913"/>
          <a:stretch/>
        </p:blipFill>
        <p:spPr>
          <a:xfrm>
            <a:off x="99550" y="4626400"/>
            <a:ext cx="505675" cy="4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0"/>
          <p:cNvSpPr/>
          <p:nvPr/>
        </p:nvSpPr>
        <p:spPr>
          <a:xfrm flipH="1" rot="10800000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0"/>
          <p:cNvSpPr/>
          <p:nvPr/>
        </p:nvSpPr>
        <p:spPr>
          <a:xfrm flipH="1" rot="10800000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0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</a:pPr>
            <a:r>
              <a:rPr lang="it"/>
              <a:t>Evaluation Metrics</a:t>
            </a:r>
            <a:endParaRPr/>
          </a:p>
        </p:txBody>
      </p:sp>
      <p:sp>
        <p:nvSpPr>
          <p:cNvPr id="275" name="Google Shape;275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76" name="Google Shape;276;p20"/>
          <p:cNvSpPr txBox="1"/>
          <p:nvPr/>
        </p:nvSpPr>
        <p:spPr>
          <a:xfrm>
            <a:off x="741680" y="1320801"/>
            <a:ext cx="7701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it" sz="1200">
                <a:solidFill>
                  <a:srgbClr val="9E9E9E"/>
                </a:solidFill>
                <a:latin typeface="Raleway"/>
                <a:ea typeface="Raleway"/>
                <a:cs typeface="Raleway"/>
                <a:sym typeface="Raleway"/>
              </a:rPr>
              <a:t>Experimental Setup &amp; Evaluation Protocol</a:t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338" y="1649751"/>
            <a:ext cx="8481965" cy="222724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0"/>
          <p:cNvSpPr txBox="1"/>
          <p:nvPr>
            <p:ph idx="2" type="subTitle"/>
          </p:nvPr>
        </p:nvSpPr>
        <p:spPr>
          <a:xfrm>
            <a:off x="1414800" y="4779100"/>
            <a:ext cx="6894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it" sz="800">
                <a:solidFill>
                  <a:srgbClr val="595959"/>
                </a:solidFill>
                <a:latin typeface="Raleway Light"/>
                <a:ea typeface="Raleway Light"/>
                <a:cs typeface="Raleway Light"/>
                <a:sym typeface="Raleway Light"/>
              </a:rPr>
              <a:t>Joint Detection of AI-Generated Images and Post-Processing Alterations in Real-World Scenarios - Agostini Antonio, Giorgia Saolini</a:t>
            </a:r>
            <a:endParaRPr sz="800">
              <a:solidFill>
                <a:srgbClr val="595959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1"/>
          <p:cNvSpPr/>
          <p:nvPr/>
        </p:nvSpPr>
        <p:spPr>
          <a:xfrm>
            <a:off x="0" y="4129750"/>
            <a:ext cx="1327200" cy="1013700"/>
          </a:xfrm>
          <a:prstGeom prst="rtTriangle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21"/>
          <p:cNvPicPr preferRelativeResize="0"/>
          <p:nvPr/>
        </p:nvPicPr>
        <p:blipFill rotWithShape="1">
          <a:blip r:embed="rId3">
            <a:alphaModFix/>
          </a:blip>
          <a:srcRect b="16524" l="7088" r="9620" t="14913"/>
          <a:stretch/>
        </p:blipFill>
        <p:spPr>
          <a:xfrm>
            <a:off x="99550" y="4626400"/>
            <a:ext cx="505675" cy="4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1"/>
          <p:cNvSpPr/>
          <p:nvPr/>
        </p:nvSpPr>
        <p:spPr>
          <a:xfrm flipH="1" rot="10800000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1"/>
          <p:cNvSpPr/>
          <p:nvPr/>
        </p:nvSpPr>
        <p:spPr>
          <a:xfrm flipH="1" rot="10800000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1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</a:pPr>
            <a:r>
              <a:rPr lang="it"/>
              <a:t>Ablation 1: Loss Weighting </a:t>
            </a:r>
            <a:endParaRPr/>
          </a:p>
        </p:txBody>
      </p:sp>
      <p:sp>
        <p:nvSpPr>
          <p:cNvPr id="289" name="Google Shape;289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90" name="Google Shape;290;p21"/>
          <p:cNvSpPr txBox="1"/>
          <p:nvPr/>
        </p:nvSpPr>
        <p:spPr>
          <a:xfrm>
            <a:off x="741680" y="1320801"/>
            <a:ext cx="7701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it" sz="1200">
                <a:solidFill>
                  <a:srgbClr val="9E9E9E"/>
                </a:solidFill>
                <a:latin typeface="Raleway"/>
                <a:ea typeface="Raleway"/>
                <a:cs typeface="Raleway"/>
                <a:sym typeface="Raleway"/>
              </a:rPr>
              <a:t>Unimodal-Baselines Comparison, Ablations &amp; Results</a:t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1"/>
          <p:cNvSpPr/>
          <p:nvPr/>
        </p:nvSpPr>
        <p:spPr>
          <a:xfrm>
            <a:off x="272098" y="1619789"/>
            <a:ext cx="3238500" cy="13335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"/>
          <p:cNvSpPr/>
          <p:nvPr/>
        </p:nvSpPr>
        <p:spPr>
          <a:xfrm>
            <a:off x="272098" y="1619789"/>
            <a:ext cx="38100" cy="1333500"/>
          </a:xfrm>
          <a:prstGeom prst="roundRect">
            <a:avLst>
              <a:gd fmla="val 50000" name="adj"/>
            </a:avLst>
          </a:prstGeom>
          <a:solidFill>
            <a:srgbClr val="00677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405448" y="1715052"/>
            <a:ext cx="3048000" cy="1238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rgbClr val="006778"/>
                </a:solidFill>
                <a:latin typeface="Catamaran"/>
                <a:ea typeface="Catamaran"/>
                <a:cs typeface="Catamaran"/>
                <a:sym typeface="Catamaran"/>
              </a:rPr>
              <a:t>Best Configuration (Run 1)</a:t>
            </a:r>
            <a:endParaRPr b="1" sz="1300">
              <a:solidFill>
                <a:srgbClr val="006778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it" sz="1050">
                <a:solidFill>
                  <a:srgbClr val="595959"/>
                </a:solidFill>
                <a:latin typeface="Raleway"/>
                <a:ea typeface="Raleway"/>
                <a:cs typeface="Raleway"/>
                <a:sym typeface="Raleway"/>
              </a:rPr>
              <a:t>Parameters: α = 0.9, β = 1.4</a:t>
            </a:r>
            <a:endParaRPr b="1" sz="1050">
              <a:solidFill>
                <a:srgbClr val="59595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• RF Accuracy: </a:t>
            </a:r>
            <a:r>
              <a:rPr b="1" lang="it" sz="1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0.8963</a:t>
            </a:r>
            <a:endParaRPr b="1" sz="10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• Trans Acc: </a:t>
            </a:r>
            <a:r>
              <a:rPr b="1" lang="it" sz="1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0.7148</a:t>
            </a:r>
            <a:endParaRPr b="1" sz="10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• Macro-F1: </a:t>
            </a:r>
            <a:r>
              <a:rPr b="1" lang="it" sz="1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0.7154</a:t>
            </a:r>
            <a:endParaRPr b="1" sz="10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• Joint Score: </a:t>
            </a:r>
            <a:r>
              <a:rPr b="1" lang="it" sz="1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rPr>
              <a:t>0.8056</a:t>
            </a:r>
            <a:endParaRPr sz="10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94" name="Google Shape;294;p21"/>
          <p:cNvSpPr/>
          <p:nvPr/>
        </p:nvSpPr>
        <p:spPr>
          <a:xfrm>
            <a:off x="272100" y="3096174"/>
            <a:ext cx="3238500" cy="1190700"/>
          </a:xfrm>
          <a:prstGeom prst="roundRect">
            <a:avLst>
              <a:gd fmla="val 2962" name="adj"/>
            </a:avLst>
          </a:prstGeom>
          <a:solidFill>
            <a:srgbClr val="FFFFFF"/>
          </a:solidFill>
          <a:ln cap="flat" cmpd="sng" w="9525">
            <a:solidFill>
              <a:schemeClr val="lt1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1"/>
          <p:cNvSpPr/>
          <p:nvPr/>
        </p:nvSpPr>
        <p:spPr>
          <a:xfrm>
            <a:off x="272089" y="3096173"/>
            <a:ext cx="38100" cy="1095300"/>
          </a:xfrm>
          <a:prstGeom prst="roundRect">
            <a:avLst>
              <a:gd fmla="val 50000" name="adj"/>
            </a:avLst>
          </a:prstGeom>
          <a:solidFill>
            <a:srgbClr val="6F0A1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1"/>
          <p:cNvSpPr txBox="1"/>
          <p:nvPr/>
        </p:nvSpPr>
        <p:spPr>
          <a:xfrm>
            <a:off x="405448" y="3191414"/>
            <a:ext cx="3048000" cy="1095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rPr>
              <a:t>Key Conclusion</a:t>
            </a:r>
            <a:endParaRPr b="1" sz="1300">
              <a:solidFill>
                <a:srgbClr val="6F0A19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it" sz="10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Simply </a:t>
            </a:r>
            <a:r>
              <a:rPr lang="it" sz="10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changing </a:t>
            </a:r>
            <a:r>
              <a:rPr b="0" lang="it" sz="10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the transformation loss weight does not solve the bottleneck.</a:t>
            </a:r>
            <a:endParaRPr b="0" sz="10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i="1" lang="it" sz="1000">
                <a:solidFill>
                  <a:srgbClr val="595959"/>
                </a:solidFill>
                <a:latin typeface="Raleway"/>
                <a:ea typeface="Raleway"/>
                <a:cs typeface="Raleway"/>
                <a:sym typeface="Raleway"/>
              </a:rPr>
              <a:t>The auxiliary task requires alternate optimization strategies beyond basic weighting.</a:t>
            </a:r>
            <a:endParaRPr i="1" sz="1000">
              <a:solidFill>
                <a:srgbClr val="59595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97" name="Google Shape;297;p21"/>
          <p:cNvPicPr preferRelativeResize="0"/>
          <p:nvPr/>
        </p:nvPicPr>
        <p:blipFill rotWithShape="1">
          <a:blip r:embed="rId4">
            <a:alphaModFix/>
          </a:blip>
          <a:srcRect b="0" l="7330" r="0" t="0"/>
          <a:stretch/>
        </p:blipFill>
        <p:spPr>
          <a:xfrm>
            <a:off x="3606300" y="1646325"/>
            <a:ext cx="5383500" cy="3054900"/>
          </a:xfrm>
          <a:prstGeom prst="rect">
            <a:avLst/>
          </a:prstGeom>
          <a:noFill/>
          <a:ln cap="flat" cmpd="sng" w="28575">
            <a:solidFill>
              <a:srgbClr val="00677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8" name="Google Shape;298;p21"/>
          <p:cNvSpPr txBox="1"/>
          <p:nvPr>
            <p:ph idx="2" type="subTitle"/>
          </p:nvPr>
        </p:nvSpPr>
        <p:spPr>
          <a:xfrm>
            <a:off x="1414800" y="4779100"/>
            <a:ext cx="6894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it" sz="800">
                <a:solidFill>
                  <a:srgbClr val="595959"/>
                </a:solidFill>
                <a:latin typeface="Raleway Light"/>
                <a:ea typeface="Raleway Light"/>
                <a:cs typeface="Raleway Light"/>
                <a:sym typeface="Raleway Light"/>
              </a:rPr>
              <a:t>Joint Detection of AI-Generated Images and Post-Processing Alterations in Real-World Scenarios - Agostini Antonio, Giorgia Saolini</a:t>
            </a:r>
            <a:endParaRPr sz="800">
              <a:solidFill>
                <a:srgbClr val="595959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2"/>
          <p:cNvSpPr/>
          <p:nvPr/>
        </p:nvSpPr>
        <p:spPr>
          <a:xfrm>
            <a:off x="0" y="4129750"/>
            <a:ext cx="1327200" cy="1013700"/>
          </a:xfrm>
          <a:prstGeom prst="rtTriangle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5" name="Google Shape;305;p22"/>
          <p:cNvPicPr preferRelativeResize="0"/>
          <p:nvPr/>
        </p:nvPicPr>
        <p:blipFill rotWithShape="1">
          <a:blip r:embed="rId3">
            <a:alphaModFix/>
          </a:blip>
          <a:srcRect b="16524" l="7088" r="9620" t="14913"/>
          <a:stretch/>
        </p:blipFill>
        <p:spPr>
          <a:xfrm>
            <a:off x="99550" y="4626400"/>
            <a:ext cx="505675" cy="4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2"/>
          <p:cNvSpPr/>
          <p:nvPr/>
        </p:nvSpPr>
        <p:spPr>
          <a:xfrm flipH="1" rot="10800000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2"/>
          <p:cNvSpPr/>
          <p:nvPr/>
        </p:nvSpPr>
        <p:spPr>
          <a:xfrm flipH="1" rot="10800000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2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</a:pPr>
            <a:r>
              <a:rPr lang="it"/>
              <a:t>Ablation 2: Head Complexity and Dropout </a:t>
            </a:r>
            <a:r>
              <a:rPr lang="it"/>
              <a:t> </a:t>
            </a:r>
            <a:endParaRPr/>
          </a:p>
        </p:txBody>
      </p:sp>
      <p:sp>
        <p:nvSpPr>
          <p:cNvPr id="309" name="Google Shape;309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10" name="Google Shape;310;p22"/>
          <p:cNvSpPr txBox="1"/>
          <p:nvPr/>
        </p:nvSpPr>
        <p:spPr>
          <a:xfrm>
            <a:off x="741680" y="1320801"/>
            <a:ext cx="7701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it" sz="1200">
                <a:solidFill>
                  <a:srgbClr val="9E9E9E"/>
                </a:solidFill>
                <a:latin typeface="Raleway"/>
                <a:ea typeface="Raleway"/>
                <a:cs typeface="Raleway"/>
                <a:sym typeface="Raleway"/>
              </a:rPr>
              <a:t>Unimodal-Baselines Comparison, Ablations &amp; Results</a:t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274074" y="1624678"/>
            <a:ext cx="3238500" cy="1428900"/>
          </a:xfrm>
          <a:prstGeom prst="roundRect">
            <a:avLst>
              <a:gd fmla="val 2666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2"/>
          <p:cNvSpPr/>
          <p:nvPr/>
        </p:nvSpPr>
        <p:spPr>
          <a:xfrm>
            <a:off x="274074" y="1624677"/>
            <a:ext cx="38100" cy="1381200"/>
          </a:xfrm>
          <a:prstGeom prst="roundRect">
            <a:avLst>
              <a:gd fmla="val 50000" name="adj"/>
            </a:avLst>
          </a:prstGeom>
          <a:solidFill>
            <a:srgbClr val="00677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2"/>
          <p:cNvSpPr txBox="1"/>
          <p:nvPr/>
        </p:nvSpPr>
        <p:spPr>
          <a:xfrm>
            <a:off x="407424" y="1691365"/>
            <a:ext cx="30426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rgbClr val="006778"/>
                </a:solidFill>
                <a:latin typeface="Catamaran"/>
                <a:ea typeface="Catamaran"/>
                <a:cs typeface="Catamaran"/>
                <a:sym typeface="Catamaran"/>
              </a:rPr>
              <a:t>Tested Configurations</a:t>
            </a:r>
            <a:endParaRPr b="1" sz="1300">
              <a:solidFill>
                <a:srgbClr val="006778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595959"/>
                </a:solidFill>
                <a:latin typeface="Raleway"/>
                <a:ea typeface="Raleway"/>
                <a:cs typeface="Raleway"/>
                <a:sym typeface="Raleway"/>
              </a:rPr>
              <a:t>Ablation: MLP Head &amp; Dropout rates (0.25, 0.50)</a:t>
            </a:r>
            <a:endParaRPr b="1" sz="1000">
              <a:solidFill>
                <a:srgbClr val="59595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59595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it" sz="950">
                <a:solidFill>
                  <a:srgbClr val="6F0A19"/>
                </a:solidFill>
                <a:latin typeface="Raleway"/>
                <a:ea typeface="Raleway"/>
                <a:cs typeface="Raleway"/>
                <a:sym typeface="Raleway"/>
              </a:rPr>
              <a:t>Result: None of these modifications improved results</a:t>
            </a:r>
            <a:endParaRPr b="1" sz="950">
              <a:solidFill>
                <a:srgbClr val="6F0A1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rgbClr val="6F0A19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950">
                <a:solidFill>
                  <a:schemeClr val="accent1"/>
                </a:solidFill>
                <a:latin typeface="Raleway"/>
                <a:ea typeface="Raleway"/>
                <a:cs typeface="Raleway"/>
                <a:sym typeface="Raleway"/>
              </a:rPr>
              <a:t>Underperformed baseline config</a:t>
            </a:r>
            <a:endParaRPr sz="950">
              <a:solidFill>
                <a:schemeClr val="accen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950">
              <a:solidFill>
                <a:srgbClr val="6F0A1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14" name="Google Shape;314;p22"/>
          <p:cNvPicPr preferRelativeResize="0"/>
          <p:nvPr/>
        </p:nvPicPr>
        <p:blipFill rotWithShape="1">
          <a:blip r:embed="rId4">
            <a:alphaModFix/>
          </a:blip>
          <a:srcRect b="9116" l="0" r="0" t="0"/>
          <a:stretch/>
        </p:blipFill>
        <p:spPr>
          <a:xfrm>
            <a:off x="270759" y="3189702"/>
            <a:ext cx="3252900" cy="1075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2"/>
          <p:cNvSpPr/>
          <p:nvPr/>
        </p:nvSpPr>
        <p:spPr>
          <a:xfrm>
            <a:off x="276615" y="3196302"/>
            <a:ext cx="38100" cy="1013700"/>
          </a:xfrm>
          <a:prstGeom prst="roundRect">
            <a:avLst>
              <a:gd fmla="val 50000" name="adj"/>
            </a:avLst>
          </a:prstGeom>
          <a:solidFill>
            <a:srgbClr val="6F0A1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2"/>
          <p:cNvSpPr txBox="1"/>
          <p:nvPr/>
        </p:nvSpPr>
        <p:spPr>
          <a:xfrm>
            <a:off x="409959" y="3129827"/>
            <a:ext cx="27924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rPr>
              <a:t>Key Conclusion</a:t>
            </a:r>
            <a:endParaRPr b="1" sz="1300">
              <a:solidFill>
                <a:srgbClr val="6F0A19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Best compromise:</a:t>
            </a:r>
            <a:r>
              <a:rPr lang="it" sz="10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 Linear head + Dropout 0.35</a:t>
            </a:r>
            <a:endParaRPr sz="1000">
              <a:solidFill>
                <a:srgbClr val="1A1A1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it" sz="950">
                <a:solidFill>
                  <a:srgbClr val="595959"/>
                </a:solidFill>
                <a:latin typeface="Raleway"/>
                <a:ea typeface="Raleway"/>
                <a:cs typeface="Raleway"/>
                <a:sym typeface="Raleway"/>
              </a:rPr>
              <a:t>The bottleneck resides in the robustness of the learned features under transformation variability, rather than head capacity limits.</a:t>
            </a:r>
            <a:endParaRPr i="1" sz="950">
              <a:solidFill>
                <a:srgbClr val="595959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17" name="Google Shape;317;p22"/>
          <p:cNvPicPr preferRelativeResize="0"/>
          <p:nvPr/>
        </p:nvPicPr>
        <p:blipFill rotWithShape="1">
          <a:blip r:embed="rId5">
            <a:alphaModFix/>
          </a:blip>
          <a:srcRect b="68638" l="87161" r="0" t="0"/>
          <a:stretch/>
        </p:blipFill>
        <p:spPr>
          <a:xfrm>
            <a:off x="8088325" y="1697300"/>
            <a:ext cx="890400" cy="95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2"/>
          <p:cNvPicPr preferRelativeResize="0"/>
          <p:nvPr/>
        </p:nvPicPr>
        <p:blipFill rotWithShape="1">
          <a:blip r:embed="rId5">
            <a:alphaModFix/>
          </a:blip>
          <a:srcRect b="0" l="8387" r="13671" t="0"/>
          <a:stretch/>
        </p:blipFill>
        <p:spPr>
          <a:xfrm>
            <a:off x="3582567" y="1646325"/>
            <a:ext cx="5405400" cy="3054900"/>
          </a:xfrm>
          <a:prstGeom prst="rect">
            <a:avLst/>
          </a:prstGeom>
          <a:noFill/>
          <a:ln cap="flat" cmpd="sng" w="28575">
            <a:solidFill>
              <a:srgbClr val="00677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9" name="Google Shape;319;p22"/>
          <p:cNvSpPr txBox="1"/>
          <p:nvPr>
            <p:ph idx="2" type="subTitle"/>
          </p:nvPr>
        </p:nvSpPr>
        <p:spPr>
          <a:xfrm>
            <a:off x="1414800" y="4779100"/>
            <a:ext cx="6894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it" sz="800">
                <a:solidFill>
                  <a:srgbClr val="595959"/>
                </a:solidFill>
                <a:latin typeface="Raleway Light"/>
                <a:ea typeface="Raleway Light"/>
                <a:cs typeface="Raleway Light"/>
                <a:sym typeface="Raleway Light"/>
              </a:rPr>
              <a:t>Joint Detection of AI-Generated Images and Post-Processing Alterations in Real-World Scenarios - Agostini Antonio, Giorgia Saolini</a:t>
            </a:r>
            <a:endParaRPr sz="800">
              <a:solidFill>
                <a:srgbClr val="595959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3"/>
          <p:cNvSpPr/>
          <p:nvPr/>
        </p:nvSpPr>
        <p:spPr>
          <a:xfrm>
            <a:off x="0" y="4129750"/>
            <a:ext cx="1327200" cy="1013700"/>
          </a:xfrm>
          <a:prstGeom prst="rtTriangle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6" name="Google Shape;326;p23"/>
          <p:cNvPicPr preferRelativeResize="0"/>
          <p:nvPr/>
        </p:nvPicPr>
        <p:blipFill rotWithShape="1">
          <a:blip r:embed="rId3">
            <a:alphaModFix/>
          </a:blip>
          <a:srcRect b="16524" l="7088" r="9620" t="14913"/>
          <a:stretch/>
        </p:blipFill>
        <p:spPr>
          <a:xfrm>
            <a:off x="99550" y="4626400"/>
            <a:ext cx="505675" cy="4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3"/>
          <p:cNvSpPr/>
          <p:nvPr/>
        </p:nvSpPr>
        <p:spPr>
          <a:xfrm flipH="1" rot="10800000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3"/>
          <p:cNvSpPr/>
          <p:nvPr/>
        </p:nvSpPr>
        <p:spPr>
          <a:xfrm flipH="1" rot="10800000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3"/>
          <p:cNvSpPr txBox="1"/>
          <p:nvPr>
            <p:ph type="title"/>
          </p:nvPr>
        </p:nvSpPr>
        <p:spPr>
          <a:xfrm>
            <a:off x="727650" y="861800"/>
            <a:ext cx="86835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</a:pPr>
            <a:r>
              <a:rPr lang="it"/>
              <a:t>Main Improvement: More Data and Better Augmentation </a:t>
            </a:r>
            <a:r>
              <a:rPr lang="it"/>
              <a:t> </a:t>
            </a:r>
            <a:endParaRPr/>
          </a:p>
        </p:txBody>
      </p:sp>
      <p:sp>
        <p:nvSpPr>
          <p:cNvPr id="330" name="Google Shape;330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31" name="Google Shape;331;p23"/>
          <p:cNvSpPr txBox="1"/>
          <p:nvPr/>
        </p:nvSpPr>
        <p:spPr>
          <a:xfrm>
            <a:off x="741680" y="1320801"/>
            <a:ext cx="7701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it" sz="1200">
                <a:solidFill>
                  <a:srgbClr val="9E9E9E"/>
                </a:solidFill>
                <a:latin typeface="Raleway"/>
                <a:ea typeface="Raleway"/>
                <a:cs typeface="Raleway"/>
                <a:sym typeface="Raleway"/>
              </a:rPr>
              <a:t>Unimodal-Baselines Comparison, Ablations &amp; Results</a:t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3"/>
          <p:cNvSpPr/>
          <p:nvPr/>
        </p:nvSpPr>
        <p:spPr>
          <a:xfrm>
            <a:off x="285750" y="1638300"/>
            <a:ext cx="3143400" cy="1476300"/>
          </a:xfrm>
          <a:prstGeom prst="roundRect">
            <a:avLst>
              <a:gd fmla="val 258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3"/>
          <p:cNvSpPr/>
          <p:nvPr/>
        </p:nvSpPr>
        <p:spPr>
          <a:xfrm>
            <a:off x="285750" y="1638300"/>
            <a:ext cx="38100" cy="1319400"/>
          </a:xfrm>
          <a:prstGeom prst="roundRect">
            <a:avLst>
              <a:gd fmla="val 50000" name="adj"/>
            </a:avLst>
          </a:prstGeom>
          <a:solidFill>
            <a:srgbClr val="00677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3"/>
          <p:cNvSpPr txBox="1"/>
          <p:nvPr/>
        </p:nvSpPr>
        <p:spPr>
          <a:xfrm>
            <a:off x="400050" y="1685925"/>
            <a:ext cx="2952900" cy="1381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006778"/>
                </a:solidFill>
                <a:latin typeface="Catamaran"/>
                <a:ea typeface="Catamaran"/>
                <a:cs typeface="Catamaran"/>
                <a:sym typeface="Catamaran"/>
              </a:rPr>
              <a:t>Data-Centric Strategy</a:t>
            </a:r>
            <a:endParaRPr b="1" sz="1200">
              <a:solidFill>
                <a:srgbClr val="006778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595959"/>
                </a:solidFill>
                <a:latin typeface="Catamaran"/>
                <a:ea typeface="Catamaran"/>
                <a:cs typeface="Catamaran"/>
                <a:sym typeface="Catamaran"/>
              </a:rPr>
              <a:t>Focus: Feature robustness through data</a:t>
            </a:r>
            <a:endParaRPr b="1" sz="1000">
              <a:solidFill>
                <a:srgbClr val="595959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it" sz="9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• Increase samples per combination:</a:t>
            </a:r>
            <a:br>
              <a:rPr b="0" lang="it" sz="9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</a:br>
            <a:r>
              <a:rPr b="1" lang="it" sz="950">
                <a:solidFill>
                  <a:srgbClr val="006778"/>
                </a:solidFill>
                <a:latin typeface="Catamaran"/>
                <a:ea typeface="Catamaran"/>
                <a:cs typeface="Catamaran"/>
                <a:sym typeface="Catamaran"/>
              </a:rPr>
              <a:t>  400 → 600 → 800 → 1000</a:t>
            </a:r>
            <a:endParaRPr b="0" sz="95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it" sz="9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• Apply progressively richer augmentation</a:t>
            </a:r>
            <a:endParaRPr b="0" sz="95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335" name="Google Shape;335;p23"/>
          <p:cNvSpPr/>
          <p:nvPr/>
        </p:nvSpPr>
        <p:spPr>
          <a:xfrm>
            <a:off x="285750" y="3155200"/>
            <a:ext cx="3143400" cy="1078800"/>
          </a:xfrm>
          <a:prstGeom prst="roundRect">
            <a:avLst>
              <a:gd fmla="val 2758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3"/>
          <p:cNvSpPr/>
          <p:nvPr/>
        </p:nvSpPr>
        <p:spPr>
          <a:xfrm>
            <a:off x="285750" y="3155200"/>
            <a:ext cx="38100" cy="1022100"/>
          </a:xfrm>
          <a:prstGeom prst="roundRect">
            <a:avLst>
              <a:gd fmla="val 50000" name="adj"/>
            </a:avLst>
          </a:prstGeom>
          <a:solidFill>
            <a:srgbClr val="6F0A1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3"/>
          <p:cNvSpPr txBox="1"/>
          <p:nvPr/>
        </p:nvSpPr>
        <p:spPr>
          <a:xfrm>
            <a:off x="400050" y="3192402"/>
            <a:ext cx="2952900" cy="100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rPr>
              <a:t>Key Conclusion</a:t>
            </a:r>
            <a:endParaRPr b="1" sz="1200">
              <a:solidFill>
                <a:srgbClr val="6F0A19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Data diversity improves over Head complexity</a:t>
            </a:r>
            <a:endParaRPr b="1" sz="100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1" lang="it" sz="950">
                <a:solidFill>
                  <a:srgbClr val="595959"/>
                </a:solidFill>
                <a:latin typeface="Catamaran"/>
                <a:ea typeface="Catamaran"/>
                <a:cs typeface="Catamaran"/>
                <a:sym typeface="Catamaran"/>
              </a:rPr>
              <a:t>The model benefited much more from richer data variability than from a more complex classification head.</a:t>
            </a:r>
            <a:endParaRPr b="0" i="1" sz="950">
              <a:solidFill>
                <a:srgbClr val="595959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338" name="Google Shape;338;p23" title="chart3_data_aug_ablation.png"/>
          <p:cNvPicPr preferRelativeResize="0"/>
          <p:nvPr/>
        </p:nvPicPr>
        <p:blipFill rotWithShape="1">
          <a:blip r:embed="rId4">
            <a:alphaModFix/>
          </a:blip>
          <a:srcRect b="0" l="7402" r="13522" t="0"/>
          <a:stretch/>
        </p:blipFill>
        <p:spPr>
          <a:xfrm>
            <a:off x="3308753" y="1649750"/>
            <a:ext cx="5680588" cy="2817212"/>
          </a:xfrm>
          <a:prstGeom prst="rect">
            <a:avLst/>
          </a:prstGeom>
          <a:noFill/>
          <a:ln cap="flat" cmpd="sng" w="28575">
            <a:solidFill>
              <a:srgbClr val="00677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39" name="Google Shape;339;p23"/>
          <p:cNvPicPr preferRelativeResize="0"/>
          <p:nvPr/>
        </p:nvPicPr>
        <p:blipFill rotWithShape="1">
          <a:blip r:embed="rId5">
            <a:alphaModFix/>
          </a:blip>
          <a:srcRect b="67497" l="87164" r="-4" t="9580"/>
          <a:stretch/>
        </p:blipFill>
        <p:spPr>
          <a:xfrm>
            <a:off x="8147369" y="1888174"/>
            <a:ext cx="711235" cy="585197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3"/>
          <p:cNvSpPr txBox="1"/>
          <p:nvPr>
            <p:ph idx="2" type="subTitle"/>
          </p:nvPr>
        </p:nvSpPr>
        <p:spPr>
          <a:xfrm>
            <a:off x="1414800" y="4779100"/>
            <a:ext cx="6894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it" sz="800">
                <a:solidFill>
                  <a:srgbClr val="595959"/>
                </a:solidFill>
                <a:latin typeface="Raleway Light"/>
                <a:ea typeface="Raleway Light"/>
                <a:cs typeface="Raleway Light"/>
                <a:sym typeface="Raleway Light"/>
              </a:rPr>
              <a:t>Joint Detection of AI-Generated Images and Post-Processing Alterations in Real-World Scenarios - Agostini Antonio, Giorgia Saolini</a:t>
            </a:r>
            <a:endParaRPr sz="800">
              <a:solidFill>
                <a:srgbClr val="595959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4"/>
          <p:cNvSpPr/>
          <p:nvPr/>
        </p:nvSpPr>
        <p:spPr>
          <a:xfrm>
            <a:off x="0" y="4129750"/>
            <a:ext cx="1327200" cy="1013700"/>
          </a:xfrm>
          <a:prstGeom prst="rtTriangle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7" name="Google Shape;347;p24"/>
          <p:cNvPicPr preferRelativeResize="0"/>
          <p:nvPr/>
        </p:nvPicPr>
        <p:blipFill rotWithShape="1">
          <a:blip r:embed="rId3">
            <a:alphaModFix/>
          </a:blip>
          <a:srcRect b="16524" l="7088" r="9620" t="14913"/>
          <a:stretch/>
        </p:blipFill>
        <p:spPr>
          <a:xfrm>
            <a:off x="99550" y="4626400"/>
            <a:ext cx="505675" cy="4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24"/>
          <p:cNvSpPr/>
          <p:nvPr/>
        </p:nvSpPr>
        <p:spPr>
          <a:xfrm flipH="1" rot="10800000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4"/>
          <p:cNvSpPr/>
          <p:nvPr/>
        </p:nvSpPr>
        <p:spPr>
          <a:xfrm flipH="1" rot="10800000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4"/>
          <p:cNvSpPr txBox="1"/>
          <p:nvPr>
            <p:ph type="title"/>
          </p:nvPr>
        </p:nvSpPr>
        <p:spPr>
          <a:xfrm>
            <a:off x="727650" y="861800"/>
            <a:ext cx="86835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</a:pPr>
            <a:r>
              <a:rPr lang="it"/>
              <a:t>Best Multi-Task Result </a:t>
            </a:r>
            <a:r>
              <a:rPr lang="it"/>
              <a:t>  </a:t>
            </a:r>
            <a:endParaRPr/>
          </a:p>
        </p:txBody>
      </p:sp>
      <p:sp>
        <p:nvSpPr>
          <p:cNvPr id="351" name="Google Shape;351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52" name="Google Shape;352;p24"/>
          <p:cNvSpPr txBox="1"/>
          <p:nvPr/>
        </p:nvSpPr>
        <p:spPr>
          <a:xfrm>
            <a:off x="741680" y="1320801"/>
            <a:ext cx="7701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it" sz="1200">
                <a:solidFill>
                  <a:srgbClr val="9E9E9E"/>
                </a:solidFill>
                <a:latin typeface="Raleway"/>
                <a:ea typeface="Raleway"/>
                <a:cs typeface="Raleway"/>
                <a:sym typeface="Raleway"/>
              </a:rPr>
              <a:t>Unimodal-Baselines Comparison, Ablations &amp; Results</a:t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3" name="Google Shape;353;p24" title="chart4_improvement_over_run1.png"/>
          <p:cNvPicPr preferRelativeResize="0"/>
          <p:nvPr/>
        </p:nvPicPr>
        <p:blipFill rotWithShape="1">
          <a:blip r:embed="rId4">
            <a:alphaModFix/>
          </a:blip>
          <a:srcRect b="0" l="0" r="14770" t="0"/>
          <a:stretch/>
        </p:blipFill>
        <p:spPr>
          <a:xfrm>
            <a:off x="3721851" y="1650608"/>
            <a:ext cx="5265992" cy="2842799"/>
          </a:xfrm>
          <a:prstGeom prst="rect">
            <a:avLst/>
          </a:prstGeom>
          <a:noFill/>
          <a:ln cap="flat" cmpd="sng" w="28575">
            <a:solidFill>
              <a:srgbClr val="00677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54" name="Google Shape;354;p24"/>
          <p:cNvPicPr preferRelativeResize="0"/>
          <p:nvPr/>
        </p:nvPicPr>
        <p:blipFill rotWithShape="1">
          <a:blip r:embed="rId5">
            <a:alphaModFix/>
          </a:blip>
          <a:srcRect b="67497" l="87164" r="-4" t="9580"/>
          <a:stretch/>
        </p:blipFill>
        <p:spPr>
          <a:xfrm>
            <a:off x="4460819" y="1964524"/>
            <a:ext cx="711300" cy="58530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4"/>
          <p:cNvSpPr/>
          <p:nvPr/>
        </p:nvSpPr>
        <p:spPr>
          <a:xfrm>
            <a:off x="285750" y="1638300"/>
            <a:ext cx="3143400" cy="1476300"/>
          </a:xfrm>
          <a:prstGeom prst="roundRect">
            <a:avLst>
              <a:gd fmla="val 2580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4"/>
          <p:cNvSpPr/>
          <p:nvPr/>
        </p:nvSpPr>
        <p:spPr>
          <a:xfrm>
            <a:off x="285750" y="1638300"/>
            <a:ext cx="38100" cy="1319400"/>
          </a:xfrm>
          <a:prstGeom prst="roundRect">
            <a:avLst>
              <a:gd fmla="val 50000" name="adj"/>
            </a:avLst>
          </a:prstGeom>
          <a:solidFill>
            <a:srgbClr val="00677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4"/>
          <p:cNvSpPr txBox="1"/>
          <p:nvPr/>
        </p:nvSpPr>
        <p:spPr>
          <a:xfrm>
            <a:off x="400050" y="1685925"/>
            <a:ext cx="2952900" cy="13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006778"/>
                </a:solidFill>
                <a:latin typeface="Catamaran"/>
                <a:ea typeface="Catamaran"/>
                <a:cs typeface="Catamaran"/>
                <a:sym typeface="Catamaran"/>
              </a:rPr>
              <a:t>Configuration &amp; Augmentation</a:t>
            </a:r>
            <a:endParaRPr b="1" sz="1200">
              <a:solidFill>
                <a:srgbClr val="006778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Best configuration: Run 10</a:t>
            </a:r>
            <a:endParaRPr b="1" sz="100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it" sz="950">
                <a:solidFill>
                  <a:srgbClr val="595959"/>
                </a:solidFill>
                <a:latin typeface="Catamaran"/>
                <a:ea typeface="Catamaran"/>
                <a:cs typeface="Catamaran"/>
                <a:sym typeface="Catamaran"/>
              </a:rPr>
              <a:t>Linear heads, dropout 0.35, alpha 0.9, beta 1.4</a:t>
            </a:r>
            <a:endParaRPr sz="950">
              <a:solidFill>
                <a:srgbClr val="595959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it" sz="950">
                <a:solidFill>
                  <a:srgbClr val="595959"/>
                </a:solidFill>
                <a:latin typeface="Catamaran"/>
                <a:ea typeface="Catamaran"/>
                <a:cs typeface="Catamaran"/>
                <a:sym typeface="Catamaran"/>
              </a:rPr>
              <a:t>1000 samples per combination</a:t>
            </a:r>
            <a:endParaRPr sz="950">
              <a:solidFill>
                <a:srgbClr val="595959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i="1" lang="it" sz="850">
                <a:solidFill>
                  <a:srgbClr val="888888"/>
                </a:solidFill>
                <a:latin typeface="Catamaran"/>
                <a:ea typeface="Catamaran"/>
                <a:cs typeface="Catamaran"/>
                <a:sym typeface="Catamaran"/>
              </a:rPr>
              <a:t>Augmentation: RandomResizedCrop, horizontal/vertical flip, small rotation, ColorJitter</a:t>
            </a:r>
            <a:endParaRPr i="1" sz="850">
              <a:solidFill>
                <a:srgbClr val="888888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358" name="Google Shape;358;p24"/>
          <p:cNvSpPr/>
          <p:nvPr/>
        </p:nvSpPr>
        <p:spPr>
          <a:xfrm>
            <a:off x="285750" y="3124200"/>
            <a:ext cx="3143400" cy="1213200"/>
          </a:xfrm>
          <a:prstGeom prst="roundRect">
            <a:avLst>
              <a:gd fmla="val 2366" name="adj"/>
            </a:avLst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4"/>
          <p:cNvSpPr/>
          <p:nvPr/>
        </p:nvSpPr>
        <p:spPr>
          <a:xfrm>
            <a:off x="285750" y="3124200"/>
            <a:ext cx="38100" cy="1095300"/>
          </a:xfrm>
          <a:prstGeom prst="roundRect">
            <a:avLst>
              <a:gd fmla="val 50000" name="adj"/>
            </a:avLst>
          </a:prstGeom>
          <a:solidFill>
            <a:srgbClr val="6F0A1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4"/>
          <p:cNvSpPr txBox="1"/>
          <p:nvPr/>
        </p:nvSpPr>
        <p:spPr>
          <a:xfrm>
            <a:off x="400050" y="3175100"/>
            <a:ext cx="29529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rPr>
              <a:t>Final Test Results</a:t>
            </a:r>
            <a:endParaRPr b="1" sz="1200">
              <a:solidFill>
                <a:srgbClr val="6F0A19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it" sz="9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• RF Accuracy: </a:t>
            </a:r>
            <a:r>
              <a:rPr b="1" lang="it" sz="95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rPr>
              <a:t>0.9433</a:t>
            </a:r>
            <a:endParaRPr b="1" sz="950">
              <a:solidFill>
                <a:srgbClr val="6F0A19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it" sz="9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• Transformation Accuracy: </a:t>
            </a:r>
            <a:r>
              <a:rPr b="1" lang="it" sz="95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rPr>
              <a:t>0.8033</a:t>
            </a:r>
            <a:endParaRPr b="1" sz="950">
              <a:solidFill>
                <a:srgbClr val="6F0A19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it" sz="9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• Macro-F1 Transformation: </a:t>
            </a:r>
            <a:r>
              <a:rPr b="1" lang="it" sz="95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rPr>
              <a:t>0.8036</a:t>
            </a:r>
            <a:endParaRPr b="1" sz="950">
              <a:solidFill>
                <a:srgbClr val="6F0A19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it" sz="100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rPr>
              <a:t>• Joint Score:</a:t>
            </a:r>
            <a:r>
              <a:rPr b="1" lang="it" sz="100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rPr>
              <a:t> 0.8733</a:t>
            </a:r>
            <a:endParaRPr b="1" sz="1000">
              <a:solidFill>
                <a:srgbClr val="6F0A19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361" name="Google Shape;361;p24" title="chart5_trend_macroF1_joint_vs_data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21850" y="1650600"/>
            <a:ext cx="5248975" cy="2842801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4"/>
          <p:cNvSpPr txBox="1"/>
          <p:nvPr>
            <p:ph idx="2" type="subTitle"/>
          </p:nvPr>
        </p:nvSpPr>
        <p:spPr>
          <a:xfrm>
            <a:off x="1414800" y="4779100"/>
            <a:ext cx="6894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it" sz="800">
                <a:solidFill>
                  <a:srgbClr val="595959"/>
                </a:solidFill>
                <a:latin typeface="Raleway Light"/>
                <a:ea typeface="Raleway Light"/>
                <a:cs typeface="Raleway Light"/>
                <a:sym typeface="Raleway Light"/>
              </a:rPr>
              <a:t>Joint Detection of AI-Generated Images and Post-Processing Alterations in Real-World Scenarios - Agostini Antonio, Giorgia Saolini</a:t>
            </a:r>
            <a:endParaRPr sz="800">
              <a:solidFill>
                <a:srgbClr val="595959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300"/>
                                        <p:tgtEl>
                                          <p:spTgt spid="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5"/>
          <p:cNvSpPr/>
          <p:nvPr/>
        </p:nvSpPr>
        <p:spPr>
          <a:xfrm>
            <a:off x="0" y="4129750"/>
            <a:ext cx="1327200" cy="1013700"/>
          </a:xfrm>
          <a:prstGeom prst="rtTriangle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9" name="Google Shape;369;p25"/>
          <p:cNvPicPr preferRelativeResize="0"/>
          <p:nvPr/>
        </p:nvPicPr>
        <p:blipFill rotWithShape="1">
          <a:blip r:embed="rId3">
            <a:alphaModFix/>
          </a:blip>
          <a:srcRect b="16524" l="7088" r="9620" t="14913"/>
          <a:stretch/>
        </p:blipFill>
        <p:spPr>
          <a:xfrm>
            <a:off x="99550" y="4626400"/>
            <a:ext cx="505675" cy="4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25"/>
          <p:cNvSpPr/>
          <p:nvPr/>
        </p:nvSpPr>
        <p:spPr>
          <a:xfrm flipH="1" rot="10800000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5"/>
          <p:cNvSpPr/>
          <p:nvPr/>
        </p:nvSpPr>
        <p:spPr>
          <a:xfrm flipH="1" rot="10800000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5"/>
          <p:cNvSpPr txBox="1"/>
          <p:nvPr>
            <p:ph type="title"/>
          </p:nvPr>
        </p:nvSpPr>
        <p:spPr>
          <a:xfrm>
            <a:off x="727650" y="861800"/>
            <a:ext cx="86835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</a:pPr>
            <a:r>
              <a:rPr lang="it"/>
              <a:t>Detailed Evaluation</a:t>
            </a:r>
            <a:r>
              <a:rPr lang="it"/>
              <a:t> </a:t>
            </a:r>
            <a:endParaRPr/>
          </a:p>
        </p:txBody>
      </p:sp>
      <p:sp>
        <p:nvSpPr>
          <p:cNvPr id="373" name="Google Shape;373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74" name="Google Shape;374;p25"/>
          <p:cNvSpPr txBox="1"/>
          <p:nvPr/>
        </p:nvSpPr>
        <p:spPr>
          <a:xfrm>
            <a:off x="741680" y="1320801"/>
            <a:ext cx="7701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it" sz="1200">
                <a:solidFill>
                  <a:srgbClr val="9E9E9E"/>
                </a:solidFill>
                <a:latin typeface="Raleway"/>
                <a:ea typeface="Raleway"/>
                <a:cs typeface="Raleway"/>
                <a:sym typeface="Raleway"/>
              </a:rPr>
              <a:t>Unimodal-Baselines Comparison, Ablations &amp; Results</a:t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5"/>
          <p:cNvSpPr/>
          <p:nvPr/>
        </p:nvSpPr>
        <p:spPr>
          <a:xfrm>
            <a:off x="285750" y="1638300"/>
            <a:ext cx="3143400" cy="1190700"/>
          </a:xfrm>
          <a:prstGeom prst="roundRect">
            <a:avLst>
              <a:gd fmla="val 3200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5"/>
          <p:cNvSpPr/>
          <p:nvPr/>
        </p:nvSpPr>
        <p:spPr>
          <a:xfrm>
            <a:off x="285750" y="1638300"/>
            <a:ext cx="38100" cy="714300"/>
          </a:xfrm>
          <a:prstGeom prst="roundRect">
            <a:avLst>
              <a:gd fmla="val 50000" name="adj"/>
            </a:avLst>
          </a:prstGeom>
          <a:solidFill>
            <a:srgbClr val="00677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5"/>
          <p:cNvSpPr txBox="1"/>
          <p:nvPr/>
        </p:nvSpPr>
        <p:spPr>
          <a:xfrm>
            <a:off x="400050" y="1685925"/>
            <a:ext cx="2952900" cy="10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006778"/>
                </a:solidFill>
                <a:latin typeface="Catamaran"/>
                <a:ea typeface="Catamaran"/>
                <a:cs typeface="Catamaran"/>
                <a:sym typeface="Catamaran"/>
              </a:rPr>
              <a:t>Classification Report</a:t>
            </a:r>
            <a:endParaRPr b="1" sz="1200">
              <a:solidFill>
                <a:srgbClr val="006778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it" sz="9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• </a:t>
            </a:r>
            <a:r>
              <a:rPr b="1" lang="it" sz="950">
                <a:solidFill>
                  <a:srgbClr val="006778"/>
                </a:solidFill>
                <a:latin typeface="Catamaran"/>
                <a:ea typeface="Catamaran"/>
                <a:cs typeface="Catamaran"/>
                <a:sym typeface="Catamaran"/>
              </a:rPr>
              <a:t>Real/Fake:</a:t>
            </a:r>
            <a:r>
              <a:rPr b="0" lang="it" sz="9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 Accuracy = 0.9433</a:t>
            </a:r>
            <a:endParaRPr b="0" sz="95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0" lang="it" sz="9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• </a:t>
            </a:r>
            <a:r>
              <a:rPr b="1" lang="it" sz="950">
                <a:solidFill>
                  <a:srgbClr val="006778"/>
                </a:solidFill>
                <a:latin typeface="Catamaran"/>
                <a:ea typeface="Catamaran"/>
                <a:cs typeface="Catamaran"/>
                <a:sym typeface="Catamaran"/>
              </a:rPr>
              <a:t>Transformation:</a:t>
            </a:r>
            <a:r>
              <a:rPr b="0" lang="it" sz="9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 Accuracy = 0.8033</a:t>
            </a:r>
            <a:endParaRPr b="0" sz="95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378" name="Google Shape;378;p25"/>
          <p:cNvSpPr/>
          <p:nvPr/>
        </p:nvSpPr>
        <p:spPr>
          <a:xfrm>
            <a:off x="285750" y="2492866"/>
            <a:ext cx="3143400" cy="1285800"/>
          </a:xfrm>
          <a:prstGeom prst="roundRect">
            <a:avLst>
              <a:gd fmla="val 2962" name="adj"/>
            </a:avLst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5"/>
          <p:cNvSpPr/>
          <p:nvPr/>
        </p:nvSpPr>
        <p:spPr>
          <a:xfrm>
            <a:off x="285750" y="2492863"/>
            <a:ext cx="38100" cy="863700"/>
          </a:xfrm>
          <a:prstGeom prst="roundRect">
            <a:avLst>
              <a:gd fmla="val 50000" name="adj"/>
            </a:avLst>
          </a:prstGeom>
          <a:solidFill>
            <a:srgbClr val="6F0A1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5"/>
          <p:cNvSpPr txBox="1"/>
          <p:nvPr/>
        </p:nvSpPr>
        <p:spPr>
          <a:xfrm>
            <a:off x="400050" y="2540416"/>
            <a:ext cx="2952900" cy="11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rPr>
              <a:t>Class Analysis</a:t>
            </a:r>
            <a:endParaRPr b="1" sz="1200">
              <a:solidFill>
                <a:srgbClr val="6F0A19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it" sz="9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• </a:t>
            </a:r>
            <a:r>
              <a:rPr b="1" lang="it" sz="95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rPr>
              <a:t>Best Class</a:t>
            </a:r>
            <a:r>
              <a:rPr b="1" lang="it" sz="95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rPr>
              <a:t>:</a:t>
            </a:r>
            <a:r>
              <a:rPr b="0" lang="it" sz="9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 redigital (F1 = 0.88)</a:t>
            </a:r>
            <a:endParaRPr b="0" sz="95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it" sz="9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• </a:t>
            </a:r>
            <a:r>
              <a:rPr b="1" lang="it" sz="95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rPr>
              <a:t>Hard Class</a:t>
            </a:r>
            <a:r>
              <a:rPr b="1" lang="it" sz="95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rPr>
              <a:t>:</a:t>
            </a:r>
            <a:r>
              <a:rPr b="0" lang="it" sz="9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 original (F1 = 0.76)</a:t>
            </a:r>
            <a:endParaRPr b="0" sz="95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it" sz="9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• </a:t>
            </a:r>
            <a:r>
              <a:rPr b="1" lang="it" sz="95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rPr>
              <a:t>Transfer Class:</a:t>
            </a:r>
            <a:r>
              <a:rPr b="0" lang="it" sz="9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 F1 = 0.77</a:t>
            </a:r>
            <a:endParaRPr b="0" sz="95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grpSp>
        <p:nvGrpSpPr>
          <p:cNvPr id="381" name="Google Shape;381;p25"/>
          <p:cNvGrpSpPr/>
          <p:nvPr/>
        </p:nvGrpSpPr>
        <p:grpSpPr>
          <a:xfrm>
            <a:off x="3667125" y="1638300"/>
            <a:ext cx="5238900" cy="2219400"/>
            <a:chOff x="3667125" y="1638300"/>
            <a:chExt cx="5238900" cy="2219400"/>
          </a:xfrm>
        </p:grpSpPr>
        <p:pic>
          <p:nvPicPr>
            <p:cNvPr id="382" name="Google Shape;382;p25"/>
            <p:cNvPicPr preferRelativeResize="0"/>
            <p:nvPr/>
          </p:nvPicPr>
          <p:blipFill rotWithShape="1">
            <a:blip r:embed="rId4">
              <a:alphaModFix/>
            </a:blip>
            <a:srcRect b="40" l="0" r="0" t="30"/>
            <a:stretch/>
          </p:blipFill>
          <p:spPr>
            <a:xfrm>
              <a:off x="3667125" y="1638300"/>
              <a:ext cx="2571900" cy="2219400"/>
            </a:xfrm>
            <a:prstGeom prst="rect">
              <a:avLst/>
            </a:prstGeom>
            <a:noFill/>
            <a:ln cap="flat" cmpd="sng" w="28575">
              <a:solidFill>
                <a:srgbClr val="006778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383" name="Google Shape;383;p25"/>
            <p:cNvPicPr preferRelativeResize="0"/>
            <p:nvPr/>
          </p:nvPicPr>
          <p:blipFill rotWithShape="1">
            <a:blip r:embed="rId5">
              <a:alphaModFix/>
            </a:blip>
            <a:srcRect b="100" l="0" r="0" t="90"/>
            <a:stretch/>
          </p:blipFill>
          <p:spPr>
            <a:xfrm>
              <a:off x="6334125" y="1638300"/>
              <a:ext cx="2571900" cy="2219400"/>
            </a:xfrm>
            <a:prstGeom prst="rect">
              <a:avLst/>
            </a:prstGeom>
            <a:noFill/>
            <a:ln cap="flat" cmpd="sng" w="28575">
              <a:solidFill>
                <a:srgbClr val="006778"/>
              </a:solidFill>
              <a:prstDash val="solid"/>
              <a:round/>
              <a:headEnd len="sm" w="sm" type="none"/>
              <a:tailEnd len="sm" w="sm" type="none"/>
            </a:ln>
          </p:spPr>
        </p:pic>
      </p:grpSp>
      <p:sp>
        <p:nvSpPr>
          <p:cNvPr id="384" name="Google Shape;384;p25"/>
          <p:cNvSpPr txBox="1"/>
          <p:nvPr/>
        </p:nvSpPr>
        <p:spPr>
          <a:xfrm>
            <a:off x="3667125" y="3952875"/>
            <a:ext cx="5238900" cy="714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900">
                <a:solidFill>
                  <a:srgbClr val="595959"/>
                </a:solidFill>
                <a:latin typeface="Catamaran"/>
                <a:ea typeface="Catamaran"/>
                <a:cs typeface="Catamaran"/>
                <a:sym typeface="Catamaran"/>
              </a:rPr>
              <a:t>Analyzing the final evaluation in detail, the Real/Fake task proves to be extremely robust, achieving an accuracy exceeding 0.94. Transformation classification is more complex, but still achieves approximately 0.80 in accuracy and macro-F1. The easiest class to detect is the re-digitized one, characterized by a clear degradation pattern, while the original and transfer classes are closer and therefore ambiguous.</a:t>
            </a:r>
            <a:endParaRPr b="0" i="1" sz="900">
              <a:solidFill>
                <a:srgbClr val="595959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385" name="Google Shape;385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5750" y="3483263"/>
            <a:ext cx="3143399" cy="641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5" title="chart6_classwise_f1_run1_vs_run1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7125" y="1638305"/>
            <a:ext cx="5229299" cy="2219400"/>
          </a:xfrm>
          <a:prstGeom prst="rect">
            <a:avLst/>
          </a:prstGeom>
          <a:noFill/>
          <a:ln cap="flat" cmpd="sng" w="38100">
            <a:solidFill>
              <a:srgbClr val="00677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87" name="Google Shape;387;p25"/>
          <p:cNvSpPr txBox="1"/>
          <p:nvPr>
            <p:ph idx="2" type="subTitle"/>
          </p:nvPr>
        </p:nvSpPr>
        <p:spPr>
          <a:xfrm>
            <a:off x="1414800" y="4779100"/>
            <a:ext cx="6894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it" sz="800">
                <a:solidFill>
                  <a:srgbClr val="595959"/>
                </a:solidFill>
                <a:latin typeface="Raleway Light"/>
                <a:ea typeface="Raleway Light"/>
                <a:cs typeface="Raleway Light"/>
                <a:sym typeface="Raleway Light"/>
              </a:rPr>
              <a:t>Joint Detection of AI-Generated Images and Post-Processing Alterations in Real-World Scenarios - Agostini Antonio, Giorgia Saolini</a:t>
            </a:r>
            <a:endParaRPr sz="800">
              <a:solidFill>
                <a:srgbClr val="595959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800"/>
                                        <p:tgtEl>
                                          <p:spTgt spid="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6"/>
          <p:cNvSpPr/>
          <p:nvPr/>
        </p:nvSpPr>
        <p:spPr>
          <a:xfrm>
            <a:off x="0" y="4129750"/>
            <a:ext cx="1327200" cy="1013700"/>
          </a:xfrm>
          <a:prstGeom prst="rtTriangle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4" name="Google Shape;394;p26"/>
          <p:cNvPicPr preferRelativeResize="0"/>
          <p:nvPr/>
        </p:nvPicPr>
        <p:blipFill rotWithShape="1">
          <a:blip r:embed="rId3">
            <a:alphaModFix/>
          </a:blip>
          <a:srcRect b="16524" l="7088" r="9620" t="14913"/>
          <a:stretch/>
        </p:blipFill>
        <p:spPr>
          <a:xfrm>
            <a:off x="99550" y="4626400"/>
            <a:ext cx="505675" cy="4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6"/>
          <p:cNvSpPr/>
          <p:nvPr/>
        </p:nvSpPr>
        <p:spPr>
          <a:xfrm flipH="1" rot="10800000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6"/>
          <p:cNvSpPr/>
          <p:nvPr/>
        </p:nvSpPr>
        <p:spPr>
          <a:xfrm flipH="1" rot="10800000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6"/>
          <p:cNvSpPr txBox="1"/>
          <p:nvPr>
            <p:ph type="title"/>
          </p:nvPr>
        </p:nvSpPr>
        <p:spPr>
          <a:xfrm>
            <a:off x="727650" y="861800"/>
            <a:ext cx="86835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</a:pPr>
            <a:r>
              <a:rPr lang="it"/>
              <a:t>Multi-Task vs Unimodal Baselines </a:t>
            </a:r>
            <a:r>
              <a:rPr lang="it"/>
              <a:t> </a:t>
            </a:r>
            <a:endParaRPr/>
          </a:p>
        </p:txBody>
      </p:sp>
      <p:sp>
        <p:nvSpPr>
          <p:cNvPr id="398" name="Google Shape;398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99" name="Google Shape;399;p26"/>
          <p:cNvSpPr txBox="1"/>
          <p:nvPr/>
        </p:nvSpPr>
        <p:spPr>
          <a:xfrm>
            <a:off x="741680" y="1320801"/>
            <a:ext cx="7701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it" sz="1200">
                <a:solidFill>
                  <a:srgbClr val="9E9E9E"/>
                </a:solidFill>
                <a:latin typeface="Raleway"/>
                <a:ea typeface="Raleway"/>
                <a:cs typeface="Raleway"/>
                <a:sym typeface="Raleway"/>
              </a:rPr>
              <a:t>Unimodal-Baselines Comparison, Ablations &amp; Results</a:t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0" name="Google Shape;400;p26" title="chart7_unimodal_vs_multitask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4425" y="1666550"/>
            <a:ext cx="3758151" cy="2300588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6"/>
          <p:cNvSpPr/>
          <p:nvPr/>
        </p:nvSpPr>
        <p:spPr>
          <a:xfrm>
            <a:off x="5198033" y="1640475"/>
            <a:ext cx="3791700" cy="2347200"/>
          </a:xfrm>
          <a:prstGeom prst="roundRect">
            <a:avLst>
              <a:gd fmla="val 1315" name="adj"/>
            </a:avLst>
          </a:prstGeom>
          <a:solidFill>
            <a:srgbClr val="000000">
              <a:alpha val="0"/>
            </a:srgbClr>
          </a:solidFill>
          <a:ln cap="flat" cmpd="sng" w="28575">
            <a:solidFill>
              <a:srgbClr val="0067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6"/>
          <p:cNvSpPr/>
          <p:nvPr/>
        </p:nvSpPr>
        <p:spPr>
          <a:xfrm>
            <a:off x="285750" y="1638300"/>
            <a:ext cx="3333900" cy="847200"/>
          </a:xfrm>
          <a:prstGeom prst="roundRect">
            <a:avLst>
              <a:gd fmla="val 2962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6"/>
          <p:cNvSpPr/>
          <p:nvPr/>
        </p:nvSpPr>
        <p:spPr>
          <a:xfrm>
            <a:off x="285750" y="1638300"/>
            <a:ext cx="38100" cy="713100"/>
          </a:xfrm>
          <a:prstGeom prst="roundRect">
            <a:avLst>
              <a:gd fmla="val 50000" name="adj"/>
            </a:avLst>
          </a:prstGeom>
          <a:solidFill>
            <a:srgbClr val="00677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6"/>
          <p:cNvSpPr txBox="1"/>
          <p:nvPr/>
        </p:nvSpPr>
        <p:spPr>
          <a:xfrm>
            <a:off x="419100" y="1685925"/>
            <a:ext cx="31053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rgbClr val="006778"/>
                </a:solidFill>
                <a:latin typeface="Catamaran"/>
                <a:ea typeface="Catamaran"/>
                <a:cs typeface="Catamaran"/>
                <a:sym typeface="Catamaran"/>
              </a:rPr>
              <a:t>Unimodal Baselines</a:t>
            </a:r>
            <a:endParaRPr b="1" sz="1300">
              <a:solidFill>
                <a:srgbClr val="006778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it" sz="9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• </a:t>
            </a:r>
            <a:r>
              <a:rPr b="1" lang="it" sz="950">
                <a:solidFill>
                  <a:srgbClr val="006778"/>
                </a:solidFill>
                <a:latin typeface="Catamaran"/>
                <a:ea typeface="Catamaran"/>
                <a:cs typeface="Catamaran"/>
                <a:sym typeface="Catamaran"/>
              </a:rPr>
              <a:t>RF-Only:</a:t>
            </a:r>
            <a:r>
              <a:rPr b="0" lang="it" sz="9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 Accuracy = </a:t>
            </a:r>
            <a:r>
              <a:rPr b="1" lang="it" sz="95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rPr>
              <a:t>0.9517</a:t>
            </a:r>
            <a:endParaRPr b="0" sz="950">
              <a:solidFill>
                <a:schemeClr val="dk2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0" lang="it" sz="9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• </a:t>
            </a:r>
            <a:r>
              <a:rPr b="1" lang="it" sz="950">
                <a:solidFill>
                  <a:srgbClr val="006778"/>
                </a:solidFill>
                <a:latin typeface="Catamaran"/>
                <a:ea typeface="Catamaran"/>
                <a:cs typeface="Catamaran"/>
                <a:sym typeface="Catamaran"/>
              </a:rPr>
              <a:t>Transformation:</a:t>
            </a:r>
            <a:r>
              <a:rPr b="0" lang="it" sz="9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 Accuracy = </a:t>
            </a:r>
            <a:r>
              <a:rPr b="1" lang="it" sz="9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0.7933</a:t>
            </a:r>
            <a:endParaRPr b="0" i="1" sz="950">
              <a:solidFill>
                <a:srgbClr val="595959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05" name="Google Shape;405;p26"/>
          <p:cNvSpPr/>
          <p:nvPr/>
        </p:nvSpPr>
        <p:spPr>
          <a:xfrm>
            <a:off x="285750" y="2496639"/>
            <a:ext cx="3333900" cy="1013700"/>
          </a:xfrm>
          <a:prstGeom prst="roundRect">
            <a:avLst>
              <a:gd fmla="val 242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6"/>
          <p:cNvSpPr/>
          <p:nvPr/>
        </p:nvSpPr>
        <p:spPr>
          <a:xfrm>
            <a:off x="285750" y="2496638"/>
            <a:ext cx="38100" cy="1013700"/>
          </a:xfrm>
          <a:prstGeom prst="roundRect">
            <a:avLst>
              <a:gd fmla="val 50000" name="adj"/>
            </a:avLst>
          </a:prstGeom>
          <a:solidFill>
            <a:srgbClr val="6F0A1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6"/>
          <p:cNvSpPr txBox="1"/>
          <p:nvPr/>
        </p:nvSpPr>
        <p:spPr>
          <a:xfrm>
            <a:off x="421986" y="2544257"/>
            <a:ext cx="31053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rPr>
              <a:t>Best Multi-Task Model &amp; Trade-off</a:t>
            </a:r>
            <a:endParaRPr b="1" sz="1300">
              <a:solidFill>
                <a:srgbClr val="6F0A19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it" sz="9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• </a:t>
            </a:r>
            <a:r>
              <a:rPr b="1" lang="it" sz="95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rPr>
              <a:t>RF Accuracy:</a:t>
            </a:r>
            <a:r>
              <a:rPr b="0" lang="it" sz="9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 0.9433 </a:t>
            </a:r>
            <a:r>
              <a:rPr b="0" lang="it" sz="850">
                <a:solidFill>
                  <a:srgbClr val="888888"/>
                </a:solidFill>
                <a:latin typeface="Catamaran"/>
                <a:ea typeface="Catamaran"/>
                <a:cs typeface="Catamaran"/>
                <a:sym typeface="Catamaran"/>
              </a:rPr>
              <a:t>(vs 0.9517 baseline)</a:t>
            </a:r>
            <a:endParaRPr b="0" sz="95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lang="it" sz="9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• </a:t>
            </a:r>
            <a:r>
              <a:rPr b="1" lang="it" sz="95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rPr>
              <a:t>Transformation Accuracy:</a:t>
            </a:r>
            <a:r>
              <a:rPr b="0" lang="it" sz="9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 0.8033 </a:t>
            </a:r>
            <a:r>
              <a:rPr b="0" lang="it" sz="850">
                <a:solidFill>
                  <a:srgbClr val="888888"/>
                </a:solidFill>
                <a:latin typeface="Catamaran"/>
                <a:ea typeface="Catamaran"/>
                <a:cs typeface="Catamaran"/>
                <a:sym typeface="Catamaran"/>
              </a:rPr>
              <a:t>(</a:t>
            </a:r>
            <a:r>
              <a:rPr lang="it" sz="850">
                <a:solidFill>
                  <a:srgbClr val="888888"/>
                </a:solidFill>
                <a:latin typeface="Catamaran"/>
                <a:ea typeface="Catamaran"/>
                <a:cs typeface="Catamaran"/>
                <a:sym typeface="Catamaran"/>
              </a:rPr>
              <a:t>vs 0.7933 baseline</a:t>
            </a:r>
            <a:r>
              <a:rPr b="0" lang="it" sz="850">
                <a:solidFill>
                  <a:srgbClr val="888888"/>
                </a:solidFill>
                <a:latin typeface="Catamaran"/>
                <a:ea typeface="Catamaran"/>
                <a:cs typeface="Catamaran"/>
                <a:sym typeface="Catamaran"/>
              </a:rPr>
              <a:t>)</a:t>
            </a:r>
            <a:endParaRPr b="0" sz="95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i="1" lang="it" sz="900">
                <a:solidFill>
                  <a:srgbClr val="595959"/>
                </a:solidFill>
                <a:latin typeface="Catamaran"/>
                <a:ea typeface="Catamaran"/>
                <a:cs typeface="Catamaran"/>
                <a:sym typeface="Catamaran"/>
              </a:rPr>
              <a:t>Sacrifices </a:t>
            </a:r>
            <a:r>
              <a:rPr i="1" lang="it" sz="900">
                <a:solidFill>
                  <a:srgbClr val="595959"/>
                </a:solidFill>
                <a:latin typeface="Catamaran"/>
                <a:ea typeface="Catamaran"/>
                <a:cs typeface="Catamaran"/>
                <a:sym typeface="Catamaran"/>
              </a:rPr>
              <a:t>0.84</a:t>
            </a:r>
            <a:r>
              <a:rPr b="0" i="1" lang="it" sz="900">
                <a:solidFill>
                  <a:srgbClr val="595959"/>
                </a:solidFill>
                <a:latin typeface="Catamaran"/>
                <a:ea typeface="Catamaran"/>
                <a:cs typeface="Catamaran"/>
                <a:sym typeface="Catamaran"/>
              </a:rPr>
              <a:t>% on the binary RF task to gain </a:t>
            </a:r>
            <a:r>
              <a:rPr i="1" lang="it" sz="900">
                <a:solidFill>
                  <a:srgbClr val="595959"/>
                </a:solidFill>
                <a:latin typeface="Catamaran"/>
                <a:ea typeface="Catamaran"/>
                <a:cs typeface="Catamaran"/>
                <a:sym typeface="Catamaran"/>
              </a:rPr>
              <a:t>1% </a:t>
            </a:r>
            <a:r>
              <a:rPr b="0" i="1" lang="it" sz="900">
                <a:solidFill>
                  <a:srgbClr val="595959"/>
                </a:solidFill>
                <a:latin typeface="Catamaran"/>
                <a:ea typeface="Catamaran"/>
                <a:cs typeface="Catamaran"/>
                <a:sym typeface="Catamaran"/>
              </a:rPr>
              <a:t>robustness on the harder transformation task.</a:t>
            </a:r>
            <a:endParaRPr b="0" i="1" sz="900">
              <a:solidFill>
                <a:srgbClr val="595959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08" name="Google Shape;408;p26"/>
          <p:cNvSpPr/>
          <p:nvPr/>
        </p:nvSpPr>
        <p:spPr>
          <a:xfrm>
            <a:off x="5204425" y="4055500"/>
            <a:ext cx="3791700" cy="601500"/>
          </a:xfrm>
          <a:prstGeom prst="roundRect">
            <a:avLst>
              <a:gd fmla="val 16667" name="adj"/>
            </a:avLst>
          </a:prstGeom>
          <a:solidFill>
            <a:srgbClr val="A0C6CD"/>
          </a:solidFill>
          <a:ln cap="flat" cmpd="sng" w="28575">
            <a:solidFill>
              <a:srgbClr val="0067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09" name="Google Shape;409;p26"/>
          <p:cNvSpPr txBox="1"/>
          <p:nvPr/>
        </p:nvSpPr>
        <p:spPr>
          <a:xfrm>
            <a:off x="5224544" y="4049020"/>
            <a:ext cx="38811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" sz="1300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rPr>
              <a:t>The multi-task model achieves comparable performance to specialized baselines on both tasks with a single shared model, demonstrating that the two forensic objectives are not in conflict but rather mutually reinforcing.</a:t>
            </a:r>
            <a:endParaRPr i="1" sz="1300">
              <a:solidFill>
                <a:schemeClr val="dk2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410" name="Google Shape;410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65625" y="3636000"/>
            <a:ext cx="3009106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65624" y="4136750"/>
            <a:ext cx="3009099" cy="399936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6"/>
          <p:cNvSpPr txBox="1"/>
          <p:nvPr/>
        </p:nvSpPr>
        <p:spPr>
          <a:xfrm>
            <a:off x="605225" y="3671850"/>
            <a:ext cx="10500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30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Task Real/Fake :</a:t>
            </a:r>
            <a:endParaRPr b="1" sz="130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13" name="Google Shape;413;p26"/>
          <p:cNvSpPr txBox="1"/>
          <p:nvPr/>
        </p:nvSpPr>
        <p:spPr>
          <a:xfrm>
            <a:off x="605225" y="4188525"/>
            <a:ext cx="13077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b="1" lang="it" sz="915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Task </a:t>
            </a:r>
            <a:r>
              <a:rPr b="1" lang="it" sz="915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Transformation :</a:t>
            </a:r>
            <a:endParaRPr b="1" sz="915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14" name="Google Shape;414;p26"/>
          <p:cNvSpPr txBox="1"/>
          <p:nvPr>
            <p:ph idx="2" type="subTitle"/>
          </p:nvPr>
        </p:nvSpPr>
        <p:spPr>
          <a:xfrm>
            <a:off x="1414800" y="4779100"/>
            <a:ext cx="6894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it" sz="800">
                <a:solidFill>
                  <a:srgbClr val="595959"/>
                </a:solidFill>
                <a:latin typeface="Raleway Light"/>
                <a:ea typeface="Raleway Light"/>
                <a:cs typeface="Raleway Light"/>
                <a:sym typeface="Raleway Light"/>
              </a:rPr>
              <a:t>Joint Detection of AI-Generated Images and Post-Processing Alterations in Real-World Scenarios - Agostini Antonio, Giorgia Saolini</a:t>
            </a:r>
            <a:endParaRPr sz="800">
              <a:solidFill>
                <a:srgbClr val="595959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7"/>
          <p:cNvSpPr/>
          <p:nvPr/>
        </p:nvSpPr>
        <p:spPr>
          <a:xfrm>
            <a:off x="0" y="4129750"/>
            <a:ext cx="1327200" cy="1013700"/>
          </a:xfrm>
          <a:prstGeom prst="rtTriangle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p27"/>
          <p:cNvPicPr preferRelativeResize="0"/>
          <p:nvPr/>
        </p:nvPicPr>
        <p:blipFill rotWithShape="1">
          <a:blip r:embed="rId3">
            <a:alphaModFix/>
          </a:blip>
          <a:srcRect b="16524" l="7088" r="9620" t="14913"/>
          <a:stretch/>
        </p:blipFill>
        <p:spPr>
          <a:xfrm>
            <a:off x="99550" y="4626400"/>
            <a:ext cx="505675" cy="4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27"/>
          <p:cNvSpPr/>
          <p:nvPr/>
        </p:nvSpPr>
        <p:spPr>
          <a:xfrm flipH="1" rot="10800000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7"/>
          <p:cNvSpPr/>
          <p:nvPr/>
        </p:nvSpPr>
        <p:spPr>
          <a:xfrm flipH="1" rot="10800000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7"/>
          <p:cNvSpPr txBox="1"/>
          <p:nvPr>
            <p:ph type="title"/>
          </p:nvPr>
        </p:nvSpPr>
        <p:spPr>
          <a:xfrm>
            <a:off x="727650" y="861800"/>
            <a:ext cx="86835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</a:pPr>
            <a:r>
              <a:rPr lang="it"/>
              <a:t>Conclusions  </a:t>
            </a:r>
            <a:endParaRPr/>
          </a:p>
        </p:txBody>
      </p:sp>
      <p:sp>
        <p:nvSpPr>
          <p:cNvPr id="425" name="Google Shape;425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26" name="Google Shape;426;p27"/>
          <p:cNvSpPr txBox="1"/>
          <p:nvPr/>
        </p:nvSpPr>
        <p:spPr>
          <a:xfrm>
            <a:off x="741680" y="1320801"/>
            <a:ext cx="7701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it" sz="1200">
                <a:solidFill>
                  <a:srgbClr val="9E9E9E"/>
                </a:solidFill>
                <a:latin typeface="Raleway"/>
                <a:ea typeface="Raleway"/>
                <a:cs typeface="Raleway"/>
                <a:sym typeface="Raleway"/>
              </a:rPr>
              <a:t>Conclusions &amp; Future Work</a:t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7"/>
          <p:cNvSpPr/>
          <p:nvPr/>
        </p:nvSpPr>
        <p:spPr>
          <a:xfrm>
            <a:off x="723900" y="1714500"/>
            <a:ext cx="38100" cy="2216100"/>
          </a:xfrm>
          <a:prstGeom prst="roundRect">
            <a:avLst>
              <a:gd fmla="val 50000" name="adj"/>
            </a:avLst>
          </a:prstGeom>
          <a:solidFill>
            <a:srgbClr val="00677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7"/>
          <p:cNvSpPr txBox="1"/>
          <p:nvPr/>
        </p:nvSpPr>
        <p:spPr>
          <a:xfrm>
            <a:off x="876300" y="1714500"/>
            <a:ext cx="35244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solidFill>
                  <a:srgbClr val="006778"/>
                </a:solidFill>
                <a:latin typeface="Catamaran"/>
                <a:ea typeface="Catamaran"/>
                <a:cs typeface="Catamaran"/>
                <a:sym typeface="Catamaran"/>
              </a:rPr>
              <a:t>Key Findings</a:t>
            </a:r>
            <a:endParaRPr b="1" sz="1400">
              <a:solidFill>
                <a:srgbClr val="006778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5275" lvl="0" marL="457200" rtl="0" algn="l">
              <a:spcBef>
                <a:spcPts val="90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tamaran"/>
              <a:buChar char="●"/>
            </a:pPr>
            <a:r>
              <a:rPr b="0" lang="it" sz="10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A shared-backbone multi-task model is effective for realistic image forensics.</a:t>
            </a:r>
            <a:endParaRPr b="0" sz="105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5275" lvl="0" marL="457200" rtl="0" algn="l">
              <a:spcBef>
                <a:spcPts val="75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tamaran"/>
              <a:buChar char="●"/>
            </a:pPr>
            <a:r>
              <a:rPr b="0" lang="it" sz="10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The main bottleneck was not the head design, but feature robustness under transformation variability.</a:t>
            </a:r>
            <a:endParaRPr b="0" sz="105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5275" lvl="0" marL="457200" rtl="0" algn="l">
              <a:spcBef>
                <a:spcPts val="75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atamaran"/>
              <a:buChar char="●"/>
            </a:pPr>
            <a:r>
              <a:rPr b="0" lang="it" sz="10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More data and targeted augmentation improved generalization significantly.</a:t>
            </a:r>
            <a:endParaRPr b="0" sz="105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95275" lvl="0" marL="457200" rtl="0" algn="l">
              <a:spcBef>
                <a:spcPts val="750"/>
              </a:spcBef>
              <a:spcAft>
                <a:spcPts val="750"/>
              </a:spcAft>
              <a:buClr>
                <a:srgbClr val="1A1A1A"/>
              </a:buClr>
              <a:buSzPts val="1050"/>
              <a:buFont typeface="Catamaran"/>
              <a:buChar char="●"/>
            </a:pPr>
            <a:r>
              <a:rPr b="0" lang="it" sz="10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Multi-task learning provided the most balanced solution for the full problem.</a:t>
            </a:r>
            <a:endParaRPr b="0" sz="105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29" name="Google Shape;429;p27"/>
          <p:cNvSpPr/>
          <p:nvPr/>
        </p:nvSpPr>
        <p:spPr>
          <a:xfrm>
            <a:off x="4724400" y="1714500"/>
            <a:ext cx="38100" cy="2216100"/>
          </a:xfrm>
          <a:prstGeom prst="roundRect">
            <a:avLst>
              <a:gd fmla="val 50000" name="adj"/>
            </a:avLst>
          </a:prstGeom>
          <a:solidFill>
            <a:srgbClr val="6F0A1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7"/>
          <p:cNvSpPr txBox="1"/>
          <p:nvPr/>
        </p:nvSpPr>
        <p:spPr>
          <a:xfrm>
            <a:off x="4876800" y="1714500"/>
            <a:ext cx="35244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rPr>
              <a:t>Project Synthesis</a:t>
            </a:r>
            <a:endParaRPr b="1" sz="1400">
              <a:solidFill>
                <a:srgbClr val="6F0A19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1" lang="it" sz="1050">
                <a:solidFill>
                  <a:srgbClr val="595959"/>
                </a:solidFill>
                <a:latin typeface="Catamaran"/>
                <a:ea typeface="Catamaran"/>
                <a:cs typeface="Catamaran"/>
                <a:sym typeface="Catamaran"/>
              </a:rPr>
              <a:t>In conclusion, this project shows that a shared-backbone multi-task model is a good solution for realistic AI-image forensics.</a:t>
            </a:r>
            <a:endParaRPr b="0" i="1" sz="1050">
              <a:solidFill>
                <a:srgbClr val="595959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i="1" lang="it" sz="1050">
                <a:solidFill>
                  <a:srgbClr val="595959"/>
                </a:solidFill>
                <a:latin typeface="Catamaran"/>
                <a:ea typeface="Catamaran"/>
                <a:cs typeface="Catamaran"/>
                <a:sym typeface="Catamaran"/>
              </a:rPr>
              <a:t>The most important lesson is that the central bottleneck was not architectural complexity in the head, but robustness to domain variability in the training data.</a:t>
            </a:r>
            <a:endParaRPr b="0" i="1" sz="1050">
              <a:solidFill>
                <a:srgbClr val="595959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i="1" lang="it" sz="1050">
                <a:solidFill>
                  <a:srgbClr val="595959"/>
                </a:solidFill>
                <a:latin typeface="Catamaran"/>
                <a:ea typeface="Catamaran"/>
                <a:cs typeface="Catamaran"/>
                <a:sym typeface="Catamaran"/>
              </a:rPr>
              <a:t>By increasing data diversity and using more targeted augmentation, we achieved a clearly stronger and more balanced model, which we believe is the most appropriate result for the full project objective.</a:t>
            </a:r>
            <a:endParaRPr b="0" i="1" sz="1050">
              <a:solidFill>
                <a:srgbClr val="595959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31" name="Google Shape;431;p27"/>
          <p:cNvSpPr txBox="1"/>
          <p:nvPr>
            <p:ph idx="2" type="subTitle"/>
          </p:nvPr>
        </p:nvSpPr>
        <p:spPr>
          <a:xfrm>
            <a:off x="1414800" y="4779100"/>
            <a:ext cx="6894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it" sz="800">
                <a:solidFill>
                  <a:srgbClr val="595959"/>
                </a:solidFill>
                <a:latin typeface="Raleway Light"/>
                <a:ea typeface="Raleway Light"/>
                <a:cs typeface="Raleway Light"/>
                <a:sym typeface="Raleway Light"/>
              </a:rPr>
              <a:t>Joint Detection of AI-Generated Images and Post-Processing Alterations in Real-World Scenarios - Agostini Antonio, Giorgia Saolini</a:t>
            </a:r>
            <a:endParaRPr sz="800">
              <a:solidFill>
                <a:srgbClr val="595959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8"/>
          <p:cNvSpPr/>
          <p:nvPr/>
        </p:nvSpPr>
        <p:spPr>
          <a:xfrm>
            <a:off x="0" y="4129750"/>
            <a:ext cx="1327200" cy="1013700"/>
          </a:xfrm>
          <a:prstGeom prst="rtTriangle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oogle Shape;438;p28"/>
          <p:cNvPicPr preferRelativeResize="0"/>
          <p:nvPr/>
        </p:nvPicPr>
        <p:blipFill rotWithShape="1">
          <a:blip r:embed="rId3">
            <a:alphaModFix/>
          </a:blip>
          <a:srcRect b="16524" l="7088" r="9620" t="14913"/>
          <a:stretch/>
        </p:blipFill>
        <p:spPr>
          <a:xfrm>
            <a:off x="99550" y="4626400"/>
            <a:ext cx="505675" cy="4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28"/>
          <p:cNvSpPr/>
          <p:nvPr/>
        </p:nvSpPr>
        <p:spPr>
          <a:xfrm flipH="1" rot="10800000">
            <a:off x="828588" y="734362"/>
            <a:ext cx="372900" cy="45900"/>
          </a:xfrm>
          <a:prstGeom prst="rect">
            <a:avLst/>
          </a:prstGeom>
          <a:solidFill>
            <a:srgbClr val="0067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8"/>
          <p:cNvSpPr/>
          <p:nvPr/>
        </p:nvSpPr>
        <p:spPr>
          <a:xfrm flipH="1" rot="10800000">
            <a:off x="1201463" y="734362"/>
            <a:ext cx="372900" cy="45900"/>
          </a:xfrm>
          <a:prstGeom prst="rect">
            <a:avLst/>
          </a:prstGeom>
          <a:solidFill>
            <a:srgbClr val="6F0A1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8"/>
          <p:cNvSpPr txBox="1"/>
          <p:nvPr>
            <p:ph type="title"/>
          </p:nvPr>
        </p:nvSpPr>
        <p:spPr>
          <a:xfrm>
            <a:off x="727650" y="861800"/>
            <a:ext cx="86835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</a:pPr>
            <a:r>
              <a:rPr lang="it"/>
              <a:t>Future Work  </a:t>
            </a:r>
            <a:endParaRPr/>
          </a:p>
        </p:txBody>
      </p:sp>
      <p:sp>
        <p:nvSpPr>
          <p:cNvPr id="442" name="Google Shape;442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43" name="Google Shape;443;p28"/>
          <p:cNvSpPr txBox="1"/>
          <p:nvPr/>
        </p:nvSpPr>
        <p:spPr>
          <a:xfrm>
            <a:off x="741680" y="1320801"/>
            <a:ext cx="7701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it" sz="1200">
                <a:solidFill>
                  <a:srgbClr val="9E9E9E"/>
                </a:solidFill>
                <a:latin typeface="Raleway"/>
                <a:ea typeface="Raleway"/>
                <a:cs typeface="Raleway"/>
                <a:sym typeface="Raleway"/>
              </a:rPr>
              <a:t>Conclusions &amp; Future Work</a:t>
            </a:r>
            <a:endParaRPr b="0" i="0" sz="14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8"/>
          <p:cNvSpPr/>
          <p:nvPr/>
        </p:nvSpPr>
        <p:spPr>
          <a:xfrm>
            <a:off x="723900" y="1714500"/>
            <a:ext cx="38100" cy="1488300"/>
          </a:xfrm>
          <a:prstGeom prst="roundRect">
            <a:avLst>
              <a:gd fmla="val 50000" name="adj"/>
            </a:avLst>
          </a:prstGeom>
          <a:solidFill>
            <a:srgbClr val="00677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8"/>
          <p:cNvSpPr txBox="1"/>
          <p:nvPr/>
        </p:nvSpPr>
        <p:spPr>
          <a:xfrm>
            <a:off x="876300" y="1714500"/>
            <a:ext cx="23814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solidFill>
                  <a:srgbClr val="006778"/>
                </a:solidFill>
                <a:latin typeface="Catamaran"/>
                <a:ea typeface="Catamaran"/>
                <a:cs typeface="Catamaran"/>
                <a:sym typeface="Catamaran"/>
              </a:rPr>
              <a:t>Data Directions</a:t>
            </a:r>
            <a:endParaRPr b="1" sz="1400">
              <a:solidFill>
                <a:srgbClr val="006778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it" sz="10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• Stronger semantic or frequency-aware augmentation</a:t>
            </a:r>
            <a:endParaRPr b="0" sz="105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it" sz="10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• More intelligent sample selection</a:t>
            </a:r>
            <a:endParaRPr b="0" sz="105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it" sz="10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• Larger-scale evaluation on additional real-world manipulations</a:t>
            </a:r>
            <a:endParaRPr b="0" sz="105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46" name="Google Shape;446;p28"/>
          <p:cNvSpPr/>
          <p:nvPr/>
        </p:nvSpPr>
        <p:spPr>
          <a:xfrm>
            <a:off x="3486150" y="1714500"/>
            <a:ext cx="38100" cy="1488300"/>
          </a:xfrm>
          <a:prstGeom prst="roundRect">
            <a:avLst>
              <a:gd fmla="val 50000" name="adj"/>
            </a:avLst>
          </a:prstGeom>
          <a:solidFill>
            <a:srgbClr val="6F0A1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28"/>
          <p:cNvSpPr txBox="1"/>
          <p:nvPr/>
        </p:nvSpPr>
        <p:spPr>
          <a:xfrm>
            <a:off x="3638550" y="1714500"/>
            <a:ext cx="23814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rPr>
              <a:t>Training Strategy</a:t>
            </a:r>
            <a:endParaRPr b="1" sz="1400">
              <a:solidFill>
                <a:srgbClr val="6F0A19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it" sz="10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• Per-transformation curriculum learning</a:t>
            </a:r>
            <a:endParaRPr b="0" sz="105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it" sz="10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• Transformation-aware training schedules</a:t>
            </a:r>
            <a:endParaRPr b="0" sz="105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48" name="Google Shape;448;p28"/>
          <p:cNvSpPr/>
          <p:nvPr/>
        </p:nvSpPr>
        <p:spPr>
          <a:xfrm>
            <a:off x="6248400" y="1714500"/>
            <a:ext cx="38100" cy="1488300"/>
          </a:xfrm>
          <a:prstGeom prst="roundRect">
            <a:avLst>
              <a:gd fmla="val 50000" name="adj"/>
            </a:avLst>
          </a:prstGeom>
          <a:solidFill>
            <a:srgbClr val="00677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8"/>
          <p:cNvSpPr txBox="1"/>
          <p:nvPr/>
        </p:nvSpPr>
        <p:spPr>
          <a:xfrm>
            <a:off x="6400800" y="1714500"/>
            <a:ext cx="20955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solidFill>
                  <a:srgbClr val="006778"/>
                </a:solidFill>
                <a:latin typeface="Catamaran"/>
                <a:ea typeface="Catamaran"/>
                <a:cs typeface="Catamaran"/>
                <a:sym typeface="Catamaran"/>
              </a:rPr>
              <a:t>Model Variants</a:t>
            </a:r>
            <a:endParaRPr b="1" sz="1400">
              <a:solidFill>
                <a:srgbClr val="006778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it" sz="10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• Alternative backbone comparison</a:t>
            </a:r>
            <a:endParaRPr b="0" sz="105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lang="it" sz="1050">
                <a:solidFill>
                  <a:srgbClr val="1A1A1A"/>
                </a:solidFill>
                <a:latin typeface="Catamaran"/>
                <a:ea typeface="Catamaran"/>
                <a:cs typeface="Catamaran"/>
                <a:sym typeface="Catamaran"/>
              </a:rPr>
              <a:t>• Systematic multi-task protocol evaluation</a:t>
            </a:r>
            <a:endParaRPr b="0" sz="1050">
              <a:solidFill>
                <a:srgbClr val="1A1A1A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450" name="Google Shape;450;p28"/>
          <p:cNvPicPr preferRelativeResize="0"/>
          <p:nvPr/>
        </p:nvPicPr>
        <p:blipFill rotWithShape="1">
          <a:blip r:embed="rId4">
            <a:alphaModFix/>
          </a:blip>
          <a:srcRect b="5442" l="6256" r="5265" t="19087"/>
          <a:stretch/>
        </p:blipFill>
        <p:spPr>
          <a:xfrm>
            <a:off x="811726" y="3406971"/>
            <a:ext cx="2215324" cy="10314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28"/>
          <p:cNvPicPr preferRelativeResize="0"/>
          <p:nvPr/>
        </p:nvPicPr>
        <p:blipFill rotWithShape="1">
          <a:blip r:embed="rId5">
            <a:alphaModFix/>
          </a:blip>
          <a:srcRect b="12469" l="9230" r="8944" t="23227"/>
          <a:stretch/>
        </p:blipFill>
        <p:spPr>
          <a:xfrm>
            <a:off x="3569702" y="3397722"/>
            <a:ext cx="2215324" cy="95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28"/>
          <p:cNvPicPr preferRelativeResize="0"/>
          <p:nvPr/>
        </p:nvPicPr>
        <p:blipFill rotWithShape="1">
          <a:blip r:embed="rId6">
            <a:alphaModFix/>
          </a:blip>
          <a:srcRect b="15524" l="11329" r="10862" t="23671"/>
          <a:stretch/>
        </p:blipFill>
        <p:spPr>
          <a:xfrm>
            <a:off x="6354898" y="3371726"/>
            <a:ext cx="2227689" cy="95035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8"/>
          <p:cNvSpPr txBox="1"/>
          <p:nvPr>
            <p:ph idx="2" type="subTitle"/>
          </p:nvPr>
        </p:nvSpPr>
        <p:spPr>
          <a:xfrm>
            <a:off x="1414800" y="4779100"/>
            <a:ext cx="6894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it" sz="800">
                <a:solidFill>
                  <a:srgbClr val="595959"/>
                </a:solidFill>
                <a:latin typeface="Raleway Light"/>
                <a:ea typeface="Raleway Light"/>
                <a:cs typeface="Raleway Light"/>
                <a:sym typeface="Raleway Light"/>
              </a:rPr>
              <a:t>Joint Detection of AI-Generated Images and Post-Processing Alterations in Real-World Scenarios - Agostini Antonio, Giorgia Saolini</a:t>
            </a:r>
            <a:endParaRPr sz="800">
              <a:solidFill>
                <a:srgbClr val="595959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9"/>
          <p:cNvSpPr txBox="1"/>
          <p:nvPr>
            <p:ph type="title"/>
          </p:nvPr>
        </p:nvSpPr>
        <p:spPr>
          <a:xfrm>
            <a:off x="727650" y="86180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it"/>
              <a:t>References</a:t>
            </a:r>
            <a:endParaRPr/>
          </a:p>
        </p:txBody>
      </p:sp>
      <p:sp>
        <p:nvSpPr>
          <p:cNvPr id="459" name="Google Shape;459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60" name="Google Shape;460;p29"/>
          <p:cNvSpPr txBox="1"/>
          <p:nvPr/>
        </p:nvSpPr>
        <p:spPr>
          <a:xfrm>
            <a:off x="876300" y="1524000"/>
            <a:ext cx="5270400" cy="128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>
                <a:solidFill>
                  <a:srgbClr val="006778"/>
                </a:solidFill>
                <a:latin typeface="Catamaran"/>
                <a:ea typeface="Catamaran"/>
                <a:cs typeface="Catamaran"/>
                <a:sym typeface="Catamaran"/>
              </a:rPr>
              <a:t>Papers</a:t>
            </a:r>
            <a:endParaRPr b="1" sz="1400">
              <a:solidFill>
                <a:srgbClr val="006778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85750" lvl="0" marL="457200" rtl="0" algn="l">
              <a:spcBef>
                <a:spcPts val="90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tamaran"/>
              <a:buChar char="●"/>
            </a:pPr>
            <a:r>
              <a:rPr b="1" lang="it" sz="90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rPr>
              <a:t>Li, Chunxiao, et al.</a:t>
            </a:r>
            <a:r>
              <a:rPr b="0" lang="it" sz="900">
                <a:solidFill>
                  <a:srgbClr val="595959"/>
                </a:solidFill>
                <a:latin typeface="Catamaran"/>
                <a:ea typeface="Catamaran"/>
                <a:cs typeface="Catamaran"/>
                <a:sym typeface="Catamaran"/>
              </a:rPr>
              <a:t> "Bridging the Gap Between Ideal and Real-world Evaluation..." </a:t>
            </a:r>
            <a:r>
              <a:rPr b="0" i="1" lang="it" sz="900">
                <a:solidFill>
                  <a:srgbClr val="595959"/>
                </a:solidFill>
                <a:latin typeface="Catamaran"/>
                <a:ea typeface="Catamaran"/>
                <a:cs typeface="Catamaran"/>
                <a:sym typeface="Catamaran"/>
              </a:rPr>
              <a:t>IEEE/CVF ICCV</a:t>
            </a:r>
            <a:r>
              <a:rPr b="0" lang="it" sz="900">
                <a:solidFill>
                  <a:srgbClr val="595959"/>
                </a:solidFill>
                <a:latin typeface="Catamaran"/>
                <a:ea typeface="Catamaran"/>
                <a:cs typeface="Catamaran"/>
                <a:sym typeface="Catamaran"/>
              </a:rPr>
              <a:t>, 2025.</a:t>
            </a:r>
            <a:endParaRPr b="0" sz="900">
              <a:solidFill>
                <a:srgbClr val="595959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85750" lvl="0" marL="457200" rtl="0" algn="l">
              <a:spcBef>
                <a:spcPts val="750"/>
              </a:spcBef>
              <a:spcAft>
                <a:spcPts val="0"/>
              </a:spcAft>
              <a:buClr>
                <a:srgbClr val="595959"/>
              </a:buClr>
              <a:buSzPts val="900"/>
              <a:buFont typeface="Catamaran"/>
              <a:buChar char="●"/>
            </a:pPr>
            <a:r>
              <a:rPr b="1" lang="it" sz="90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rPr>
              <a:t>Shao, Rui, et al.</a:t>
            </a:r>
            <a:r>
              <a:rPr b="0" lang="it" sz="900">
                <a:solidFill>
                  <a:srgbClr val="595959"/>
                </a:solidFill>
                <a:latin typeface="Catamaran"/>
                <a:ea typeface="Catamaran"/>
                <a:cs typeface="Catamaran"/>
                <a:sym typeface="Catamaran"/>
              </a:rPr>
              <a:t> "Detecting and grounding multi-modal media manipulation." </a:t>
            </a:r>
            <a:r>
              <a:rPr b="0" i="1" lang="it" sz="900">
                <a:solidFill>
                  <a:srgbClr val="595959"/>
                </a:solidFill>
                <a:latin typeface="Catamaran"/>
                <a:ea typeface="Catamaran"/>
                <a:cs typeface="Catamaran"/>
                <a:sym typeface="Catamaran"/>
              </a:rPr>
              <a:t>IEEE/CVF CVPR</a:t>
            </a:r>
            <a:r>
              <a:rPr b="0" lang="it" sz="900">
                <a:solidFill>
                  <a:srgbClr val="595959"/>
                </a:solidFill>
                <a:latin typeface="Catamaran"/>
                <a:ea typeface="Catamaran"/>
                <a:cs typeface="Catamaran"/>
                <a:sym typeface="Catamaran"/>
              </a:rPr>
              <a:t>, 2023.</a:t>
            </a:r>
            <a:endParaRPr b="0" sz="900">
              <a:solidFill>
                <a:srgbClr val="595959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61" name="Google Shape;461;p29"/>
          <p:cNvSpPr txBox="1"/>
          <p:nvPr/>
        </p:nvSpPr>
        <p:spPr>
          <a:xfrm>
            <a:off x="876300" y="2485800"/>
            <a:ext cx="7688700" cy="82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006778"/>
                </a:solidFill>
                <a:latin typeface="Catamaran"/>
                <a:ea typeface="Catamaran"/>
                <a:cs typeface="Catamaran"/>
                <a:sym typeface="Catamaran"/>
              </a:rPr>
              <a:t>Images</a:t>
            </a:r>
            <a:endParaRPr b="1" sz="1400">
              <a:solidFill>
                <a:srgbClr val="006778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85750" lvl="0" marL="457200" rtl="0" algn="l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tamaran"/>
              <a:buChar char="●"/>
            </a:pPr>
            <a:r>
              <a:rPr b="1" lang="it" sz="90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rPr>
              <a:t>ResNet50 Architecture:</a:t>
            </a:r>
            <a:r>
              <a:rPr lang="it" sz="90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it" sz="833" u="sng">
                <a:solidFill>
                  <a:schemeClr val="accent5"/>
                </a:solidFill>
                <a:latin typeface="Catamaran"/>
                <a:ea typeface="Catamaran"/>
                <a:cs typeface="Catamaran"/>
                <a:sym typeface="Catamar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https://www.thinkingstack.ai/blog/business-use-cases-11/a-comprehensive-guide-to-resnet50-architecture-and-implementation-56</a:t>
            </a:r>
            <a:endParaRPr sz="900">
              <a:solidFill>
                <a:srgbClr val="6F0A19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85750" lvl="0" marL="457200" rtl="0" algn="l"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tamaran"/>
              <a:buChar char="●"/>
            </a:pPr>
            <a:r>
              <a:rPr b="1" lang="it" sz="900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rPr>
              <a:t>Other Visuals:</a:t>
            </a:r>
            <a:r>
              <a:rPr b="0" lang="it" sz="900">
                <a:solidFill>
                  <a:srgbClr val="595959"/>
                </a:solidFill>
                <a:latin typeface="Catamaran"/>
                <a:ea typeface="Catamaran"/>
                <a:cs typeface="Catamaran"/>
                <a:sym typeface="Catamaran"/>
              </a:rPr>
              <a:t> All secondary diagrams and schemes were hand drawn.</a:t>
            </a:r>
            <a:endParaRPr b="0" sz="900">
              <a:solidFill>
                <a:srgbClr val="595959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62" name="Google Shape;462;p29"/>
          <p:cNvSpPr txBox="1"/>
          <p:nvPr/>
        </p:nvSpPr>
        <p:spPr>
          <a:xfrm>
            <a:off x="876300" y="3454850"/>
            <a:ext cx="7468500" cy="89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95">
                <a:solidFill>
                  <a:srgbClr val="006778"/>
                </a:solidFill>
                <a:latin typeface="Catamaran"/>
                <a:ea typeface="Catamaran"/>
                <a:cs typeface="Catamaran"/>
                <a:sym typeface="Catamaran"/>
              </a:rPr>
              <a:t>Slides &amp; Template</a:t>
            </a:r>
            <a:endParaRPr b="1" sz="1295">
              <a:solidFill>
                <a:srgbClr val="006778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81464" lvl="0" marL="457200" rtl="0" algn="l">
              <a:spcBef>
                <a:spcPts val="900"/>
              </a:spcBef>
              <a:spcAft>
                <a:spcPts val="0"/>
              </a:spcAft>
              <a:buClr>
                <a:srgbClr val="595959"/>
              </a:buClr>
              <a:buSzPts val="833"/>
              <a:buFont typeface="Catamaran"/>
              <a:buChar char="●"/>
            </a:pPr>
            <a:r>
              <a:rPr b="1" lang="it" sz="833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rPr>
              <a:t>Sapienza PPT Template:</a:t>
            </a:r>
            <a:r>
              <a:rPr lang="it" sz="833">
                <a:solidFill>
                  <a:srgbClr val="595959"/>
                </a:solidFill>
                <a:latin typeface="Catamaran"/>
                <a:ea typeface="Catamaran"/>
                <a:cs typeface="Catamaran"/>
                <a:sym typeface="Catamaran"/>
              </a:rPr>
              <a:t> </a:t>
            </a:r>
            <a:r>
              <a:rPr lang="it" sz="800" u="sng">
                <a:solidFill>
                  <a:schemeClr val="accent5"/>
                </a:solidFill>
                <a:latin typeface="Catamaran"/>
                <a:ea typeface="Catamaran"/>
                <a:cs typeface="Catamaran"/>
                <a:sym typeface="Catamar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https://github.com/pietro-nardelli/sapienza-ppt-template</a:t>
            </a:r>
            <a:endParaRPr sz="533">
              <a:solidFill>
                <a:srgbClr val="595959"/>
              </a:solidFill>
              <a:latin typeface="Catamaran"/>
              <a:ea typeface="Catamaran"/>
              <a:cs typeface="Catamaran"/>
              <a:sym typeface="Catamaran"/>
            </a:endParaRPr>
          </a:p>
          <a:p>
            <a:pPr indent="-281464" lvl="0" marL="457200" rtl="0" algn="l">
              <a:spcBef>
                <a:spcPts val="900"/>
              </a:spcBef>
              <a:spcAft>
                <a:spcPts val="900"/>
              </a:spcAft>
              <a:buClr>
                <a:srgbClr val="595959"/>
              </a:buClr>
              <a:buSzPts val="833"/>
              <a:buFont typeface="Catamaran"/>
              <a:buChar char="●"/>
            </a:pPr>
            <a:r>
              <a:rPr b="1" lang="it" sz="833">
                <a:solidFill>
                  <a:srgbClr val="6F0A19"/>
                </a:solidFill>
                <a:latin typeface="Catamaran"/>
                <a:ea typeface="Catamaran"/>
                <a:cs typeface="Catamaran"/>
                <a:sym typeface="Catamaran"/>
              </a:rPr>
              <a:t>Licensing:</a:t>
            </a:r>
            <a:r>
              <a:rPr b="0" lang="it" sz="833">
                <a:solidFill>
                  <a:srgbClr val="595959"/>
                </a:solidFill>
                <a:latin typeface="Catamaran"/>
                <a:ea typeface="Catamaran"/>
                <a:cs typeface="Catamaran"/>
                <a:sym typeface="Catamaran"/>
              </a:rPr>
              <a:t> Distributed under Attribution-NonCommercial-ShareAlike 4.0 International (CC BY-NC-SA 4.0).</a:t>
            </a:r>
            <a:endParaRPr b="0" sz="833">
              <a:solidFill>
                <a:srgbClr val="595959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463" name="Google Shape;463;p29"/>
          <p:cNvSpPr txBox="1"/>
          <p:nvPr>
            <p:ph idx="2" type="subTitle"/>
          </p:nvPr>
        </p:nvSpPr>
        <p:spPr>
          <a:xfrm>
            <a:off x="1414800" y="4779100"/>
            <a:ext cx="68949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it" sz="800">
                <a:solidFill>
                  <a:srgbClr val="595959"/>
                </a:solidFill>
                <a:latin typeface="Raleway Light"/>
                <a:ea typeface="Raleway Light"/>
                <a:cs typeface="Raleway Light"/>
                <a:sym typeface="Raleway Light"/>
              </a:rPr>
              <a:t>Joint Detection of AI-Generated Images and Post-Processing Alterations in Real-World Scenarios - Agostini Antonio, Giorgia Saolini</a:t>
            </a:r>
            <a:endParaRPr sz="800">
              <a:solidFill>
                <a:srgbClr val="595959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0"/>
          <p:cNvSpPr txBox="1"/>
          <p:nvPr>
            <p:ph type="ctrTitle"/>
          </p:nvPr>
        </p:nvSpPr>
        <p:spPr>
          <a:xfrm>
            <a:off x="729450" y="1322450"/>
            <a:ext cx="7688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it"/>
              <a:t>Thank you for the attention!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